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8" r:id="rId3"/>
    <p:sldId id="273" r:id="rId5"/>
    <p:sldId id="274" r:id="rId6"/>
    <p:sldId id="292" r:id="rId7"/>
    <p:sldId id="275" r:id="rId8"/>
    <p:sldId id="276" r:id="rId9"/>
    <p:sldId id="279" r:id="rId10"/>
    <p:sldId id="277" r:id="rId11"/>
    <p:sldId id="278" r:id="rId12"/>
    <p:sldId id="283" r:id="rId13"/>
    <p:sldId id="280" r:id="rId14"/>
    <p:sldId id="282" r:id="rId15"/>
    <p:sldId id="284" r:id="rId16"/>
    <p:sldId id="281" r:id="rId17"/>
    <p:sldId id="287" r:id="rId18"/>
    <p:sldId id="285" r:id="rId19"/>
    <p:sldId id="286" r:id="rId20"/>
    <p:sldId id="288" r:id="rId21"/>
    <p:sldId id="289" r:id="rId22"/>
    <p:sldId id="290" r:id="rId23"/>
    <p:sldId id="291" r:id="rId24"/>
    <p:sldId id="27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D2FAEA-0C39-44F2-9ED0-32D173F6752C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5059A5-90ED-463C-9D85-D46C5344269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5FC5F-10FD-4831-9B2E-58BD7DB5713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hyperlink" Target="https://en.wikipedia.org/wiki/Browser_engine" TargetMode="External"/><Relationship Id="rId4" Type="http://schemas.openxmlformats.org/officeDocument/2006/relationships/hyperlink" Target="https://youtu.be/mxT233EdY5c" TargetMode="External"/><Relationship Id="rId3" Type="http://schemas.openxmlformats.org/officeDocument/2006/relationships/hyperlink" Target="https://youtu.be/21eFwbb48sE" TargetMode="External"/><Relationship Id="rId2" Type="http://schemas.openxmlformats.org/officeDocument/2006/relationships/hyperlink" Target="https://www.mozilla.org/en-US/firefox/browsers/what-is-a-browser/" TargetMode="External"/><Relationship Id="rId1" Type="http://schemas.openxmlformats.org/officeDocument/2006/relationships/hyperlink" Target="https://www.nginx.com/resources/glossary/web-server/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0649" y="421239"/>
            <a:ext cx="12192000" cy="1304819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7000" b="1" dirty="0" smtClean="0"/>
              <a:t>Web Hosting</a:t>
            </a:r>
            <a:endParaRPr lang="en-US" sz="5000" b="1" dirty="0"/>
          </a:p>
        </p:txBody>
      </p:sp>
      <p:sp useBgFill="1">
        <p:nvSpPr>
          <p:cNvPr id="5" name="TextBox 4"/>
          <p:cNvSpPr txBox="1"/>
          <p:nvPr/>
        </p:nvSpPr>
        <p:spPr>
          <a:xfrm>
            <a:off x="4283773" y="6083300"/>
            <a:ext cx="309880" cy="55308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endParaRPr lang="en-US" sz="3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7052" y="2430409"/>
            <a:ext cx="4763023" cy="30526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Web Hosting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By now, you know </a:t>
            </a:r>
            <a:r>
              <a:rPr lang="en-US" dirty="0" smtClean="0"/>
              <a:t>that websites </a:t>
            </a:r>
            <a:r>
              <a:rPr lang="en-US" dirty="0"/>
              <a:t>and files are stored on web </a:t>
            </a:r>
            <a:r>
              <a:rPr lang="en-US" dirty="0" smtClean="0"/>
              <a:t>servers located </a:t>
            </a:r>
            <a:r>
              <a:rPr lang="en-US" dirty="0"/>
              <a:t>in datacenters.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But </a:t>
            </a:r>
            <a:r>
              <a:rPr lang="en-US" dirty="0"/>
              <a:t>what if you wanted </a:t>
            </a:r>
            <a:r>
              <a:rPr lang="en-US" dirty="0" smtClean="0"/>
              <a:t>to create </a:t>
            </a:r>
            <a:r>
              <a:rPr lang="en-US" dirty="0"/>
              <a:t>your own website?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Do </a:t>
            </a:r>
            <a:r>
              <a:rPr lang="en-US" dirty="0"/>
              <a:t>you really </a:t>
            </a:r>
            <a:r>
              <a:rPr lang="en-US" dirty="0" smtClean="0"/>
              <a:t>need your </a:t>
            </a:r>
            <a:r>
              <a:rPr lang="en-US" dirty="0"/>
              <a:t>own datacenter with </a:t>
            </a:r>
            <a:r>
              <a:rPr lang="en-US" dirty="0" smtClean="0"/>
              <a:t>specialized hardware </a:t>
            </a:r>
            <a:r>
              <a:rPr lang="en-US" dirty="0"/>
              <a:t>and software?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5160" y="4756934"/>
            <a:ext cx="2306839" cy="21010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Web Hosting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en-US" dirty="0"/>
              <a:t>Thankfully, the answer is no. </a:t>
            </a:r>
            <a:endParaRPr lang="en-US" dirty="0" smtClean="0"/>
          </a:p>
          <a:p>
            <a:pPr algn="just">
              <a:lnSpc>
                <a:spcPct val="200000"/>
              </a:lnSpc>
            </a:pPr>
            <a:r>
              <a:rPr lang="en-US" dirty="0" smtClean="0"/>
              <a:t>Developers can launch </a:t>
            </a:r>
            <a:r>
              <a:rPr lang="en-US" dirty="0"/>
              <a:t>websites to the Internet using </a:t>
            </a:r>
            <a:r>
              <a:rPr lang="en-US" dirty="0" smtClean="0"/>
              <a:t>something known </a:t>
            </a:r>
            <a:r>
              <a:rPr lang="en-US" dirty="0"/>
              <a:t>as </a:t>
            </a:r>
            <a:r>
              <a:rPr lang="en-US" b="1" dirty="0"/>
              <a:t>web hosting</a:t>
            </a:r>
            <a:r>
              <a:rPr lang="en-US" dirty="0"/>
              <a:t>. </a:t>
            </a:r>
            <a:endParaRPr lang="en-U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0524" y="4463329"/>
            <a:ext cx="5751013" cy="23521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Web Hosting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Web hosting is a service where you place your website and files on the hosting companies web server.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/>
              <a:t>You don't need to </a:t>
            </a:r>
            <a:r>
              <a:rPr lang="en-US" dirty="0" smtClean="0"/>
              <a:t>be accompanied </a:t>
            </a:r>
            <a:r>
              <a:rPr lang="en-US" dirty="0"/>
              <a:t>to use a web host. Individuals can rent space too.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000" y="3935067"/>
            <a:ext cx="3894137" cy="28975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Web Hosting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You're essentially renting the space in return for stable and secure storage. 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3900" y="3583060"/>
            <a:ext cx="6388100" cy="32749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Web Hosting Options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The options include </a:t>
            </a:r>
            <a:endParaRPr lang="en-US" dirty="0" smtClean="0"/>
          </a:p>
          <a:p>
            <a:pPr lvl="1">
              <a:lnSpc>
                <a:spcPct val="150000"/>
              </a:lnSpc>
            </a:pPr>
            <a:r>
              <a:rPr lang="en-US" b="1" dirty="0" smtClean="0"/>
              <a:t>shared </a:t>
            </a:r>
            <a:r>
              <a:rPr lang="en-US" b="1" dirty="0"/>
              <a:t>hosting, </a:t>
            </a:r>
            <a:r>
              <a:rPr lang="en-US" b="1" dirty="0" smtClean="0"/>
              <a:t>virtual </a:t>
            </a:r>
            <a:r>
              <a:rPr lang="en-US" b="1" dirty="0"/>
              <a:t>private hosting, </a:t>
            </a:r>
            <a:r>
              <a:rPr lang="en-US" b="1" dirty="0" smtClean="0"/>
              <a:t>dedicated </a:t>
            </a:r>
            <a:r>
              <a:rPr lang="en-US" b="1" dirty="0"/>
              <a:t>hosting</a:t>
            </a:r>
            <a:r>
              <a:rPr lang="en-US" b="1" dirty="0" smtClean="0"/>
              <a:t>, and Cloud </a:t>
            </a:r>
            <a:r>
              <a:rPr lang="en-US" b="1" dirty="0"/>
              <a:t>hosting. </a:t>
            </a:r>
            <a:endParaRPr lang="en-US" b="1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Let's </a:t>
            </a:r>
            <a:r>
              <a:rPr lang="en-US" dirty="0"/>
              <a:t>explore each of these hosting types in </a:t>
            </a:r>
            <a:r>
              <a:rPr lang="en-US" dirty="0" smtClean="0"/>
              <a:t>a little </a:t>
            </a:r>
            <a:r>
              <a:rPr lang="en-US" dirty="0"/>
              <a:t>more detail now.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4109" y="4740242"/>
            <a:ext cx="7570382" cy="20796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Shared Hosting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830388"/>
            <a:ext cx="10477986" cy="50276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Shared Hosting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The cheapest form of web hosting is known as shared hosting.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You </a:t>
            </a:r>
            <a:r>
              <a:rPr lang="en-US" dirty="0"/>
              <a:t>pay for a </a:t>
            </a:r>
            <a:r>
              <a:rPr lang="en-US" dirty="0" smtClean="0"/>
              <a:t>location on </a:t>
            </a:r>
            <a:r>
              <a:rPr lang="en-US" dirty="0"/>
              <a:t>a web server containing many web </a:t>
            </a:r>
            <a:r>
              <a:rPr lang="en-US" dirty="0" smtClean="0"/>
              <a:t>hosting accounts </a:t>
            </a:r>
            <a:r>
              <a:rPr lang="en-US" dirty="0"/>
              <a:t>with shared hosting.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/>
              <a:t>This means that you also share the service processing power, memory, and bandwidth with other websites that might slow your performance.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Shared Hosting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This </a:t>
            </a:r>
            <a:r>
              <a:rPr lang="en-US" dirty="0"/>
              <a:t>option is best for a small website with </a:t>
            </a:r>
            <a:r>
              <a:rPr lang="en-US" dirty="0" smtClean="0"/>
              <a:t>a small </a:t>
            </a:r>
            <a:r>
              <a:rPr lang="en-US" dirty="0"/>
              <a:t>number of visitors</a:t>
            </a:r>
            <a:r>
              <a:rPr lang="en-US" dirty="0" smtClean="0"/>
              <a:t>.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Many </a:t>
            </a:r>
            <a:r>
              <a:rPr lang="en-US" dirty="0"/>
              <a:t>developers also use this as a low-cost </a:t>
            </a:r>
            <a:r>
              <a:rPr lang="en-US" dirty="0" smtClean="0"/>
              <a:t>sandbox environment </a:t>
            </a:r>
            <a:r>
              <a:rPr lang="en-US" dirty="0"/>
              <a:t>to practice deploying or </a:t>
            </a:r>
            <a:r>
              <a:rPr lang="en-US" dirty="0" smtClean="0"/>
              <a:t>hosting their </a:t>
            </a:r>
            <a:r>
              <a:rPr lang="en-US" dirty="0"/>
              <a:t>personal websites.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Some </a:t>
            </a:r>
            <a:r>
              <a:rPr lang="en-US" dirty="0"/>
              <a:t>companies </a:t>
            </a:r>
            <a:r>
              <a:rPr lang="en-US" dirty="0" smtClean="0"/>
              <a:t>offer free </a:t>
            </a:r>
            <a:r>
              <a:rPr lang="en-US" dirty="0"/>
              <a:t>shared hosting, but with limitations and often have </a:t>
            </a:r>
            <a:r>
              <a:rPr lang="en-US" dirty="0" smtClean="0"/>
              <a:t>advertisements embedded </a:t>
            </a:r>
            <a:r>
              <a:rPr lang="en-US" dirty="0"/>
              <a:t>in the webpages.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6100" y="5199654"/>
            <a:ext cx="5295900" cy="16583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Virtual Private Service (VPS) Hosting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6319" y="1891777"/>
            <a:ext cx="7599362" cy="49662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Virtual Private Service (VPS) Hosting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Sites with </a:t>
            </a:r>
            <a:r>
              <a:rPr lang="en-US" dirty="0" smtClean="0"/>
              <a:t>more considerable </a:t>
            </a:r>
            <a:r>
              <a:rPr lang="en-US" dirty="0"/>
              <a:t>demands use virtual private surface or VPS.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A </a:t>
            </a:r>
            <a:r>
              <a:rPr lang="en-US" dirty="0"/>
              <a:t>VPS is a virtual </a:t>
            </a:r>
            <a:r>
              <a:rPr lang="en-US" dirty="0" smtClean="0"/>
              <a:t>server with </a:t>
            </a:r>
            <a:r>
              <a:rPr lang="en-US" dirty="0"/>
              <a:t>dedicated CPU, memory, and bandwidth resources. 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Virtual Private Service (VPS) Hosting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It will be running on a hardware server with other VPS instances but as the resources are fixed per VPS instance, your website is unlikely to be impacted by the performance of other VPS instances. 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/>
              <a:t>A VPS instance will be more expensive than shared hosting. 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Dedicated Hosting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6400" y="1817688"/>
            <a:ext cx="6540500" cy="50403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Dedicated Hosting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The next option up is </a:t>
            </a:r>
            <a:r>
              <a:rPr lang="en-US" dirty="0" smtClean="0"/>
              <a:t>to use </a:t>
            </a:r>
            <a:r>
              <a:rPr lang="en-US" dirty="0"/>
              <a:t>dedicated hosting.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This </a:t>
            </a:r>
            <a:r>
              <a:rPr lang="en-US" dirty="0"/>
              <a:t>will be a hardware server that is dedicated to you only.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All </a:t>
            </a:r>
            <a:r>
              <a:rPr lang="en-US" dirty="0"/>
              <a:t>hardware, CPU, memory, and bandwidth </a:t>
            </a:r>
            <a:r>
              <a:rPr lang="en-US" dirty="0" smtClean="0"/>
              <a:t>resources are </a:t>
            </a:r>
            <a:r>
              <a:rPr lang="en-US" dirty="0"/>
              <a:t>yours to use.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Generally</a:t>
            </a:r>
            <a:r>
              <a:rPr lang="en-US" dirty="0"/>
              <a:t>, this option is more expensive than a VPS hosting.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Cloud Hosting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6094" y="2235200"/>
            <a:ext cx="8659812" cy="43037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Cloud Hosting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The last type of web hosting is something you may have heard of.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Cloud </a:t>
            </a:r>
            <a:r>
              <a:rPr lang="en-US" dirty="0"/>
              <a:t>hosting and the </a:t>
            </a:r>
            <a:r>
              <a:rPr lang="en-US" dirty="0" smtClean="0"/>
              <a:t>Cloud has </a:t>
            </a:r>
            <a:r>
              <a:rPr lang="en-US" dirty="0"/>
              <a:t>grown in popularity over the last decade and is often mentioned in various </a:t>
            </a:r>
            <a:r>
              <a:rPr lang="en-US" dirty="0" smtClean="0"/>
              <a:t>news and </a:t>
            </a:r>
            <a:r>
              <a:rPr lang="en-US" dirty="0"/>
              <a:t>services you use.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With </a:t>
            </a:r>
            <a:r>
              <a:rPr lang="en-US" dirty="0"/>
              <a:t>Cloud hosting, your website is run in something </a:t>
            </a:r>
            <a:r>
              <a:rPr lang="en-US" dirty="0" smtClean="0"/>
              <a:t>called a </a:t>
            </a:r>
            <a:r>
              <a:rPr lang="en-US" dirty="0"/>
              <a:t>Cloud environment, which spans across </a:t>
            </a:r>
            <a:r>
              <a:rPr lang="en-US" dirty="0" smtClean="0"/>
              <a:t>multiple physical </a:t>
            </a:r>
            <a:r>
              <a:rPr lang="en-US" dirty="0"/>
              <a:t>and virtual servers. 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0100" y="2631043"/>
            <a:ext cx="8415337" cy="42269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Cloud Hosting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If a physical or virtual server fails, your website will run on a different server and stay online. 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Cloud Hosting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The main advantage of Cloud hosting is that you can use as many resources as you need without hardware limitations</a:t>
            </a:r>
            <a:r>
              <a:rPr lang="en-US" dirty="0" smtClean="0"/>
              <a:t>.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/>
              <a:t>However, you pay </a:t>
            </a:r>
            <a:r>
              <a:rPr lang="en-US" dirty="0" smtClean="0"/>
              <a:t>based on </a:t>
            </a:r>
            <a:r>
              <a:rPr lang="en-US" dirty="0"/>
              <a:t>resource use.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9199" y="4307627"/>
            <a:ext cx="7216775" cy="23566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Cloud Hosting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For example, if you transfer a file from the </a:t>
            </a:r>
            <a:r>
              <a:rPr lang="en-US" dirty="0" smtClean="0"/>
              <a:t>Cloud to </a:t>
            </a:r>
            <a:r>
              <a:rPr lang="en-US" dirty="0"/>
              <a:t>a web browser, you'll pay for </a:t>
            </a:r>
            <a:r>
              <a:rPr lang="en-US" dirty="0" smtClean="0"/>
              <a:t>the bandwidth </a:t>
            </a:r>
            <a:r>
              <a:rPr lang="en-US" dirty="0"/>
              <a:t>used for that transfer at a </a:t>
            </a:r>
            <a:r>
              <a:rPr lang="en-US" dirty="0" smtClean="0"/>
              <a:t>fractional cent </a:t>
            </a:r>
            <a:r>
              <a:rPr lang="en-US" dirty="0"/>
              <a:t>cost per megabyte.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While </a:t>
            </a:r>
            <a:r>
              <a:rPr lang="en-US" dirty="0"/>
              <a:t>this can </a:t>
            </a:r>
            <a:r>
              <a:rPr lang="en-US" dirty="0" smtClean="0"/>
              <a:t>quickly become </a:t>
            </a:r>
            <a:r>
              <a:rPr lang="en-US" dirty="0"/>
              <a:t>more expensive, </a:t>
            </a:r>
            <a:r>
              <a:rPr lang="en-US" dirty="0" smtClean="0"/>
              <a:t>is </a:t>
            </a:r>
            <a:r>
              <a:rPr lang="en-US" dirty="0"/>
              <a:t>allows </a:t>
            </a:r>
            <a:r>
              <a:rPr lang="en-US" dirty="0" smtClean="0"/>
              <a:t>websites and </a:t>
            </a:r>
            <a:r>
              <a:rPr lang="en-US" dirty="0"/>
              <a:t>web applications to scale their </a:t>
            </a:r>
            <a:r>
              <a:rPr lang="en-US" dirty="0" smtClean="0"/>
              <a:t>costs as </a:t>
            </a:r>
            <a:r>
              <a:rPr lang="en-US" dirty="0"/>
              <a:t>popularity grows.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This </a:t>
            </a:r>
            <a:r>
              <a:rPr lang="en-US" dirty="0"/>
              <a:t>is how many of the </a:t>
            </a:r>
            <a:r>
              <a:rPr lang="en-US" dirty="0" smtClean="0"/>
              <a:t>major web </a:t>
            </a:r>
            <a:r>
              <a:rPr lang="en-US" dirty="0"/>
              <a:t>applications operate.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Summary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In this lecture, you have learned about </a:t>
            </a:r>
            <a:r>
              <a:rPr lang="en-US" dirty="0"/>
              <a:t>web hosting and the different hosting options available to </a:t>
            </a:r>
            <a:r>
              <a:rPr lang="en-US" dirty="0" smtClean="0"/>
              <a:t>individuals and </a:t>
            </a:r>
            <a:r>
              <a:rPr lang="en-US" dirty="0"/>
              <a:t>companies.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Soon </a:t>
            </a:r>
            <a:r>
              <a:rPr lang="en-US" dirty="0"/>
              <a:t>you will build </a:t>
            </a:r>
            <a:r>
              <a:rPr lang="en-US" dirty="0" smtClean="0"/>
              <a:t>your very </a:t>
            </a:r>
            <a:r>
              <a:rPr lang="en-US" dirty="0"/>
              <a:t>first website.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Are </a:t>
            </a:r>
            <a:r>
              <a:rPr lang="en-US" dirty="0"/>
              <a:t>you excited to get it hosted so you can </a:t>
            </a:r>
            <a:r>
              <a:rPr lang="en-US" dirty="0" smtClean="0"/>
              <a:t>share it </a:t>
            </a:r>
            <a:r>
              <a:rPr lang="en-US" dirty="0"/>
              <a:t>with the world?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For </a:t>
            </a:r>
            <a:r>
              <a:rPr lang="en-US" dirty="0"/>
              <a:t>more information </a:t>
            </a:r>
            <a:r>
              <a:rPr lang="en-US" dirty="0" smtClean="0"/>
              <a:t>on web </a:t>
            </a:r>
            <a:r>
              <a:rPr lang="en-US" dirty="0"/>
              <a:t>hosting and </a:t>
            </a:r>
            <a:r>
              <a:rPr lang="en-US" dirty="0" smtClean="0"/>
              <a:t>Services do study new </a:t>
            </a:r>
            <a:r>
              <a:rPr lang="en-US" smtClean="0"/>
              <a:t>updates regularly.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kern="1800" spc="-10" dirty="0">
                <a:solidFill>
                  <a:srgbClr val="1F1F1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Additional </a:t>
            </a:r>
            <a:r>
              <a:rPr lang="en-US" kern="1800" spc="-10" dirty="0" smtClean="0">
                <a:solidFill>
                  <a:srgbClr val="1F1F1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6552"/>
            <a:ext cx="10515600" cy="5118537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07000"/>
              </a:lnSpc>
              <a:spcAft>
                <a:spcPts val="1200"/>
              </a:spcAft>
              <a:buNone/>
            </a:pPr>
            <a:r>
              <a:rPr lang="en-US" dirty="0" smtClean="0"/>
              <a:t>L</a:t>
            </a:r>
            <a:r>
              <a:rPr lang="en-US" b="1" dirty="0" smtClean="0">
                <a:solidFill>
                  <a:srgbClr val="1F1F1F"/>
                </a:solidFill>
                <a:latin typeface="unset"/>
                <a:ea typeface="Times New Roman" panose="02020603050405020304" pitchFamily="18" charset="0"/>
                <a:cs typeface="Arial" panose="020B0604020202020204" pitchFamily="34" charset="0"/>
              </a:rPr>
              <a:t>earn more</a:t>
            </a:r>
            <a:r>
              <a:rPr lang="en-US" dirty="0" smtClean="0">
                <a:solidFill>
                  <a:srgbClr val="1F1F1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Here is a list of resources that may be helpful as you continue your learning journey.</a:t>
            </a:r>
            <a:endParaRPr lang="en-US" sz="3200" dirty="0" smtClean="0">
              <a:effectLst/>
              <a:latin typeface="Calibri" panose="020F0502020204030204" charset="0"/>
              <a:ea typeface="Calibri" panose="020F050202020403020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US" b="1" dirty="0" smtClean="0">
                <a:solidFill>
                  <a:srgbClr val="1F1F1F"/>
                </a:solidFill>
                <a:latin typeface="unset"/>
                <a:ea typeface="Times New Roman" panose="02020603050405020304" pitchFamily="18" charset="0"/>
                <a:cs typeface="Arial" panose="020B0604020202020204" pitchFamily="34" charset="0"/>
              </a:rPr>
              <a:t>What is a Web Server? (NGINX)</a:t>
            </a:r>
            <a:endParaRPr lang="en-US" sz="3200" dirty="0" smtClean="0">
              <a:effectLst/>
              <a:latin typeface="Calibri" panose="020F0502020204030204" charset="0"/>
              <a:ea typeface="Calibri" panose="020F050202020403020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US" dirty="0" smtClean="0">
                <a:solidFill>
                  <a:srgbClr val="0056D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1"/>
              </a:rPr>
              <a:t>https://www.nginx.com/resources/glossary/web-server/</a:t>
            </a:r>
            <a:endParaRPr lang="en-US" sz="3200" dirty="0" smtClean="0">
              <a:effectLst/>
              <a:latin typeface="Calibri" panose="020F0502020204030204" charset="0"/>
              <a:ea typeface="Calibri" panose="020F050202020403020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US" b="1" dirty="0" smtClean="0">
                <a:solidFill>
                  <a:srgbClr val="1F1F1F"/>
                </a:solidFill>
                <a:latin typeface="unset"/>
                <a:ea typeface="Times New Roman" panose="02020603050405020304" pitchFamily="18" charset="0"/>
                <a:cs typeface="Arial" panose="020B0604020202020204" pitchFamily="34" charset="0"/>
              </a:rPr>
              <a:t>What is a Web Browser? (Mozilla)</a:t>
            </a:r>
            <a:endParaRPr lang="en-US" sz="3200" dirty="0" smtClean="0">
              <a:effectLst/>
              <a:latin typeface="Calibri" panose="020F0502020204030204" charset="0"/>
              <a:ea typeface="Calibri" panose="020F050202020403020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US" dirty="0" smtClean="0">
                <a:solidFill>
                  <a:srgbClr val="0056D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https://www.mozilla.org/en-US/firefox/browsers/what-is-a-browser/</a:t>
            </a:r>
            <a:endParaRPr lang="en-US" sz="3200" dirty="0" smtClean="0">
              <a:effectLst/>
              <a:latin typeface="Calibri" panose="020F0502020204030204" charset="0"/>
              <a:ea typeface="Calibri" panose="020F050202020403020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US" b="1" dirty="0" smtClean="0">
                <a:solidFill>
                  <a:srgbClr val="1F1F1F"/>
                </a:solidFill>
                <a:latin typeface="unset"/>
                <a:ea typeface="Times New Roman" panose="02020603050405020304" pitchFamily="18" charset="0"/>
                <a:cs typeface="Arial" panose="020B0604020202020204" pitchFamily="34" charset="0"/>
              </a:rPr>
              <a:t>Who invented the Internet? And why? (</a:t>
            </a:r>
            <a:r>
              <a:rPr lang="en-US" b="1" dirty="0" err="1" smtClean="0">
                <a:solidFill>
                  <a:srgbClr val="1F1F1F"/>
                </a:solidFill>
                <a:latin typeface="unset"/>
                <a:ea typeface="Times New Roman" panose="02020603050405020304" pitchFamily="18" charset="0"/>
                <a:cs typeface="Arial" panose="020B0604020202020204" pitchFamily="34" charset="0"/>
              </a:rPr>
              <a:t>Kurzgesagt</a:t>
            </a:r>
            <a:r>
              <a:rPr lang="en-US" b="1" dirty="0" smtClean="0">
                <a:solidFill>
                  <a:srgbClr val="1F1F1F"/>
                </a:solidFill>
                <a:latin typeface="unset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  <a:endParaRPr lang="en-US" sz="3200" dirty="0" smtClean="0">
              <a:effectLst/>
              <a:latin typeface="Calibri" panose="020F0502020204030204" charset="0"/>
              <a:ea typeface="Calibri" panose="020F050202020403020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US" dirty="0" smtClean="0">
                <a:solidFill>
                  <a:srgbClr val="0056D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https://youtu.be/21eFwbb48sE</a:t>
            </a:r>
            <a:endParaRPr lang="en-US" sz="3200" dirty="0" smtClean="0">
              <a:effectLst/>
              <a:latin typeface="Calibri" panose="020F0502020204030204" charset="0"/>
              <a:ea typeface="Calibri" panose="020F050202020403020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US" b="1" dirty="0" smtClean="0">
                <a:solidFill>
                  <a:srgbClr val="1F1F1F"/>
                </a:solidFill>
                <a:latin typeface="unset"/>
                <a:ea typeface="Times New Roman" panose="02020603050405020304" pitchFamily="18" charset="0"/>
                <a:cs typeface="Arial" panose="020B0604020202020204" pitchFamily="34" charset="0"/>
              </a:rPr>
              <a:t>What is Cloud Computing? (Amazon)</a:t>
            </a:r>
            <a:endParaRPr lang="en-US" sz="3200" dirty="0" smtClean="0">
              <a:effectLst/>
              <a:latin typeface="Calibri" panose="020F0502020204030204" charset="0"/>
              <a:ea typeface="Calibri" panose="020F050202020403020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US" dirty="0" smtClean="0">
                <a:solidFill>
                  <a:srgbClr val="0056D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https://youtu.be/mxT233EdY5c</a:t>
            </a:r>
            <a:endParaRPr lang="en-US" sz="3200" dirty="0" smtClean="0">
              <a:effectLst/>
              <a:latin typeface="Calibri" panose="020F0502020204030204" charset="0"/>
              <a:ea typeface="Calibri" panose="020F050202020403020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US" b="1" dirty="0" smtClean="0">
                <a:solidFill>
                  <a:srgbClr val="1F1F1F"/>
                </a:solidFill>
                <a:latin typeface="unset"/>
                <a:ea typeface="Times New Roman" panose="02020603050405020304" pitchFamily="18" charset="0"/>
                <a:cs typeface="Arial" panose="020B0604020202020204" pitchFamily="34" charset="0"/>
              </a:rPr>
              <a:t>Browser Engines (Wikipedia)</a:t>
            </a:r>
            <a:endParaRPr lang="en-US" sz="3200" dirty="0" smtClean="0">
              <a:effectLst/>
              <a:latin typeface="Calibri" panose="020F0502020204030204" charset="0"/>
              <a:ea typeface="Calibri" panose="020F050202020403020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US" dirty="0" smtClean="0">
                <a:solidFill>
                  <a:srgbClr val="0056D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https://en.wikipedia.org/wiki/Browser_engine</a:t>
            </a:r>
            <a:endParaRPr lang="en-US" sz="3200" dirty="0" smtClean="0">
              <a:effectLst/>
              <a:latin typeface="Calibri" panose="020F0502020204030204" charset="0"/>
              <a:ea typeface="Calibri" panose="020F050202020403020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0500" y="2679699"/>
            <a:ext cx="9144000" cy="1122363"/>
          </a:xfrm>
        </p:spPr>
        <p:txBody>
          <a:bodyPr/>
          <a:lstStyle/>
          <a:p>
            <a:r>
              <a:rPr lang="en-US" b="1" dirty="0" smtClean="0">
                <a:latin typeface="Book Antiqua" panose="02040602050305030304" pitchFamily="18" charset="0"/>
              </a:rPr>
              <a:t>Thank You</a:t>
            </a:r>
            <a:endParaRPr lang="en-US" b="1" dirty="0">
              <a:latin typeface="Book Antiqua" panose="0204060205030503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4121</Words>
  <Application>WPS Presentation</Application>
  <PresentationFormat>Widescreen</PresentationFormat>
  <Paragraphs>116</Paragraphs>
  <Slides>22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4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Times New Roman</vt:lpstr>
      <vt:lpstr>unset</vt:lpstr>
      <vt:lpstr>Segoe Print</vt:lpstr>
      <vt:lpstr>Book Antiqua</vt:lpstr>
      <vt:lpstr>Office Theme</vt:lpstr>
      <vt:lpstr>Web Hosting</vt:lpstr>
      <vt:lpstr>Web Hosting</vt:lpstr>
      <vt:lpstr>Web Hosting</vt:lpstr>
      <vt:lpstr>Web Hosting</vt:lpstr>
      <vt:lpstr>Web Hosting</vt:lpstr>
      <vt:lpstr>Web Hosting Options</vt:lpstr>
      <vt:lpstr>Shared Hosting</vt:lpstr>
      <vt:lpstr>Shared Hosting</vt:lpstr>
      <vt:lpstr>Shared Hosting</vt:lpstr>
      <vt:lpstr>Virtual Private Service (VPS) Hosting</vt:lpstr>
      <vt:lpstr>Virtual Private Service (VPS) Hosting</vt:lpstr>
      <vt:lpstr>Virtual Private Service (VPS) Hosting</vt:lpstr>
      <vt:lpstr>Dedicated Hosting</vt:lpstr>
      <vt:lpstr>Dedicated Hosting</vt:lpstr>
      <vt:lpstr>Cloud Hosting</vt:lpstr>
      <vt:lpstr>Cloud Hosting</vt:lpstr>
      <vt:lpstr>Cloud Hosting</vt:lpstr>
      <vt:lpstr>Cloud Hosting</vt:lpstr>
      <vt:lpstr>Cloud Hosting</vt:lpstr>
      <vt:lpstr>Summary</vt:lpstr>
      <vt:lpstr>Additional Resources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Habib</dc:creator>
  <cp:lastModifiedBy>Shahzeb Iqbal</cp:lastModifiedBy>
  <cp:revision>62</cp:revision>
  <dcterms:created xsi:type="dcterms:W3CDTF">2023-01-28T07:00:00Z</dcterms:created>
  <dcterms:modified xsi:type="dcterms:W3CDTF">2026-09-16T04:33:50Z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9A94E17C1C4C41AA8A0EFE498FCDD2E9_12</vt:lpwstr>
  </property>
</Properties>
</file>