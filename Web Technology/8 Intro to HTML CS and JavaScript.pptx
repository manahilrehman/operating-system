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334" r:id="rId5"/>
    <p:sldId id="335" r:id="rId6"/>
    <p:sldId id="337" r:id="rId7"/>
    <p:sldId id="338" r:id="rId8"/>
    <p:sldId id="336" r:id="rId9"/>
    <p:sldId id="333" r:id="rId10"/>
    <p:sldId id="339" r:id="rId11"/>
    <p:sldId id="340" r:id="rId12"/>
    <p:sldId id="341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2" r:id="rId22"/>
    <p:sldId id="351" r:id="rId23"/>
    <p:sldId id="299" r:id="rId24"/>
    <p:sldId id="2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2FAEA-0C39-44F2-9ED0-32D173F6752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059A5-90ED-463C-9D85-D46C534426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code.visualstudio.com/docs" TargetMode="External"/><Relationship Id="rId4" Type="http://schemas.openxmlformats.org/officeDocument/2006/relationships/hyperlink" Target="https://firefox-source-docs.mozilla.org/devtools-user/index.html" TargetMode="External"/><Relationship Id="rId3" Type="http://schemas.openxmlformats.org/officeDocument/2006/relationships/hyperlink" Target="https://developer.chrome.com/docs/devtools/overview/" TargetMode="External"/><Relationship Id="rId2" Type="http://schemas.openxmlformats.org/officeDocument/2006/relationships/hyperlink" Target="https://www.amazon.com/Introduction-Networking-How-Internet-Works/dp/1511654945/" TargetMode="External"/><Relationship Id="rId1" Type="http://schemas.openxmlformats.org/officeDocument/2006/relationships/hyperlink" Target="https://developer.mozilla.org/en-US/docs/Web/HTTP/Overview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649" y="534259"/>
            <a:ext cx="12192000" cy="1417833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7000" b="1" dirty="0" smtClean="0"/>
              <a:t>HTML, CSS &amp; JavaScript</a:t>
            </a:r>
            <a:endParaRPr lang="en-US" sz="5000" b="1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4283773" y="6083300"/>
            <a:ext cx="309880" cy="5530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995" y="2112696"/>
            <a:ext cx="4192712" cy="38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web pages </a:t>
            </a:r>
            <a:r>
              <a:rPr lang="en-US" dirty="0" smtClean="0"/>
              <a:t>you visit </a:t>
            </a:r>
            <a:r>
              <a:rPr lang="en-US" dirty="0"/>
              <a:t>every day are based on </a:t>
            </a:r>
            <a:r>
              <a:rPr lang="en-US" dirty="0" smtClean="0"/>
              <a:t>three core </a:t>
            </a:r>
            <a:r>
              <a:rPr lang="en-US" dirty="0"/>
              <a:t>technologies, HTML, CSS, and JavaScript.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Together</a:t>
            </a:r>
            <a:r>
              <a:rPr lang="en-US" dirty="0"/>
              <a:t>, they enable </a:t>
            </a:r>
            <a:r>
              <a:rPr lang="en-US" dirty="0" smtClean="0"/>
              <a:t>you to </a:t>
            </a:r>
            <a:r>
              <a:rPr lang="en-US" dirty="0"/>
              <a:t>create web pages and applications so you can offer any content </a:t>
            </a:r>
            <a:r>
              <a:rPr lang="en-US" dirty="0" smtClean="0"/>
              <a:t>you have </a:t>
            </a:r>
            <a:r>
              <a:rPr lang="en-US" dirty="0"/>
              <a:t>seen online.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In </a:t>
            </a:r>
            <a:r>
              <a:rPr lang="en-US" dirty="0"/>
              <a:t>this </a:t>
            </a:r>
            <a:r>
              <a:rPr lang="en-US" dirty="0" smtClean="0"/>
              <a:t>lecture, I will </a:t>
            </a:r>
            <a:r>
              <a:rPr lang="en-US" dirty="0"/>
              <a:t>demonstrate two examples you can </a:t>
            </a:r>
            <a:r>
              <a:rPr lang="en-US" dirty="0" smtClean="0"/>
              <a:t>create using </a:t>
            </a:r>
            <a:r>
              <a:rPr lang="en-US" dirty="0"/>
              <a:t>these technologies.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This is to help you understand how they </a:t>
            </a:r>
            <a:r>
              <a:rPr lang="en-US" dirty="0" smtClean="0"/>
              <a:t>interact with </a:t>
            </a:r>
            <a:r>
              <a:rPr lang="en-US" dirty="0"/>
              <a:t>one another.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In </a:t>
            </a:r>
            <a:r>
              <a:rPr lang="en-US" dirty="0"/>
              <a:t>the first example, I'm building a web page </a:t>
            </a:r>
            <a:r>
              <a:rPr lang="en-US" dirty="0" smtClean="0"/>
              <a:t>that displays </a:t>
            </a:r>
            <a:r>
              <a:rPr lang="en-US" dirty="0"/>
              <a:t>a digital clock.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shows the hour</a:t>
            </a:r>
            <a:r>
              <a:rPr lang="en-US" dirty="0" smtClean="0"/>
              <a:t>, minutes</a:t>
            </a:r>
            <a:r>
              <a:rPr lang="en-US" dirty="0"/>
              <a:t>, and seconds. </a:t>
            </a:r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1: Digital Clock Page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time is </a:t>
            </a:r>
            <a:r>
              <a:rPr lang="en-US" dirty="0" smtClean="0"/>
              <a:t>updated every </a:t>
            </a:r>
            <a:r>
              <a:rPr lang="en-US" dirty="0"/>
              <a:t>second.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 </a:t>
            </a:r>
            <a:r>
              <a:rPr lang="en-US" dirty="0"/>
              <a:t>will work with three files, </a:t>
            </a:r>
            <a:endParaRPr lang="en-US" dirty="0" smtClean="0"/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an HTML</a:t>
            </a:r>
            <a:r>
              <a:rPr lang="en-US" dirty="0"/>
              <a:t>, </a:t>
            </a:r>
            <a:endParaRPr lang="en-US" dirty="0" smtClean="0"/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a </a:t>
            </a:r>
            <a:r>
              <a:rPr lang="en-US" dirty="0"/>
              <a:t>CSS, and </a:t>
            </a:r>
            <a:endParaRPr lang="en-US" dirty="0" smtClean="0"/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a </a:t>
            </a:r>
            <a:r>
              <a:rPr lang="en-US" dirty="0"/>
              <a:t>JavaScript 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 file </a:t>
            </a:r>
            <a:r>
              <a:rPr lang="en-US" dirty="0"/>
              <a:t>and you will explore the </a:t>
            </a:r>
            <a:r>
              <a:rPr lang="en-US" dirty="0" smtClean="0"/>
              <a:t>purpose of </a:t>
            </a:r>
            <a:r>
              <a:rPr lang="en-US" dirty="0"/>
              <a:t>each one of them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8790" y="5923043"/>
            <a:ext cx="3202915" cy="901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1: </a:t>
            </a:r>
            <a:r>
              <a:rPr lang="en-US" b="1" dirty="0"/>
              <a:t>Digital Clock Page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To </a:t>
            </a:r>
            <a:r>
              <a:rPr lang="en-US" dirty="0"/>
              <a:t>create the clock element, Let's first define our HTML code in a file called </a:t>
            </a:r>
            <a:r>
              <a:rPr lang="en-US" sz="3000" b="1" dirty="0" smtClean="0">
                <a:solidFill>
                  <a:srgbClr val="C00000"/>
                </a:solidFill>
              </a:rPr>
              <a:t>clock.html.</a:t>
            </a:r>
            <a:endParaRPr lang="en-US" sz="3000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/>
              <a:t>The HTML code has an element </a:t>
            </a:r>
            <a:br>
              <a:rPr lang="en-US" dirty="0" smtClean="0"/>
            </a:br>
            <a:r>
              <a:rPr lang="en-US" dirty="0" smtClean="0"/>
              <a:t>that </a:t>
            </a:r>
            <a:r>
              <a:rPr lang="en-US" dirty="0"/>
              <a:t>describes the content in hours, </a:t>
            </a:r>
            <a:br>
              <a:rPr lang="en-US" dirty="0" smtClean="0"/>
            </a:br>
            <a:r>
              <a:rPr lang="en-US" dirty="0" smtClean="0"/>
              <a:t>minutes</a:t>
            </a:r>
            <a:r>
              <a:rPr lang="en-US" dirty="0"/>
              <a:t>, and seconds. 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1514" y="3036816"/>
            <a:ext cx="4870486" cy="3743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1: </a:t>
            </a:r>
            <a:r>
              <a:rPr lang="en-US" b="1" dirty="0"/>
              <a:t>Digital Clock Page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If </a:t>
            </a:r>
            <a:r>
              <a:rPr lang="en-US" dirty="0"/>
              <a:t>I only use the HTML file, the content would </a:t>
            </a:r>
            <a:r>
              <a:rPr lang="en-US" dirty="0" smtClean="0"/>
              <a:t>be shown </a:t>
            </a:r>
            <a:r>
              <a:rPr lang="en-US" dirty="0"/>
              <a:t>without any style positioning or sizing, just simply as a </a:t>
            </a:r>
            <a:r>
              <a:rPr lang="en-US" dirty="0" smtClean="0"/>
              <a:t>display of </a:t>
            </a:r>
            <a:r>
              <a:rPr lang="en-US" dirty="0"/>
              <a:t>six zeros representing time in the format </a:t>
            </a:r>
            <a:r>
              <a:rPr lang="en-US" dirty="0" smtClean="0"/>
              <a:t>of </a:t>
            </a:r>
            <a:br>
              <a:rPr lang="en-US" dirty="0" smtClean="0"/>
            </a:br>
            <a:r>
              <a:rPr lang="en-US" sz="3000" b="1" dirty="0" smtClean="0">
                <a:solidFill>
                  <a:srgbClr val="C00000"/>
                </a:solidFill>
              </a:rPr>
              <a:t>hours : minutes : seconds</a:t>
            </a:r>
            <a:r>
              <a:rPr lang="en-US" sz="3000" b="1" dirty="0">
                <a:solidFill>
                  <a:srgbClr val="C00000"/>
                </a:solidFill>
              </a:rPr>
              <a:t>.</a:t>
            </a:r>
            <a:endParaRPr lang="en-US" sz="3000" b="1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843" y="3800854"/>
            <a:ext cx="4123307" cy="3005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1: </a:t>
            </a:r>
            <a:r>
              <a:rPr lang="en-US" b="1" dirty="0"/>
              <a:t>Digital Clock Page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To apply styles </a:t>
            </a:r>
            <a:r>
              <a:rPr lang="en-US" dirty="0" smtClean="0"/>
              <a:t>to the </a:t>
            </a:r>
            <a:r>
              <a:rPr lang="en-US" dirty="0"/>
              <a:t>HTML element, the HTML code references </a:t>
            </a:r>
            <a:r>
              <a:rPr lang="en-US" dirty="0" smtClean="0"/>
              <a:t>a CSS </a:t>
            </a:r>
            <a:r>
              <a:rPr lang="en-US" dirty="0"/>
              <a:t>file called </a:t>
            </a:r>
            <a:r>
              <a:rPr lang="en-US" sz="3000" b="1" dirty="0">
                <a:solidFill>
                  <a:srgbClr val="C00000"/>
                </a:solidFill>
              </a:rPr>
              <a:t>styles.css.</a:t>
            </a:r>
            <a:r>
              <a:rPr lang="en-US" dirty="0"/>
              <a:t>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web browser retrieves the styles.css </a:t>
            </a:r>
            <a:br>
              <a:rPr lang="en-US" dirty="0" smtClean="0"/>
            </a:br>
            <a:r>
              <a:rPr lang="en-US" dirty="0" smtClean="0"/>
              <a:t>file and </a:t>
            </a:r>
            <a:r>
              <a:rPr lang="en-US" dirty="0"/>
              <a:t>processes it.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182" y="3332734"/>
            <a:ext cx="4432820" cy="3494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1: </a:t>
            </a:r>
            <a:r>
              <a:rPr lang="en-US" b="1" dirty="0"/>
              <a:t>Digital Clock Page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CSS code </a:t>
            </a:r>
            <a:r>
              <a:rPr lang="en-US" dirty="0" smtClean="0"/>
              <a:t>provides styling </a:t>
            </a:r>
            <a:r>
              <a:rPr lang="en-US" dirty="0"/>
              <a:t>for the clock.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tells the browser </a:t>
            </a:r>
            <a:r>
              <a:rPr lang="en-US" dirty="0" smtClean="0"/>
              <a:t>the position</a:t>
            </a:r>
            <a:r>
              <a:rPr lang="en-US" dirty="0"/>
              <a:t>, size, color, background, and font type, and size of </a:t>
            </a:r>
            <a:r>
              <a:rPr lang="en-US" dirty="0" smtClean="0"/>
              <a:t>each element </a:t>
            </a:r>
            <a:r>
              <a:rPr lang="en-US" dirty="0"/>
              <a:t>on the screen.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With </a:t>
            </a:r>
            <a:r>
              <a:rPr lang="en-US" dirty="0"/>
              <a:t>that information, the browser </a:t>
            </a:r>
            <a:r>
              <a:rPr lang="en-US" dirty="0" smtClean="0"/>
              <a:t>updates the </a:t>
            </a:r>
            <a:r>
              <a:rPr lang="en-US" dirty="0"/>
              <a:t>content and the sequence of zeros and colons now </a:t>
            </a:r>
            <a:r>
              <a:rPr lang="en-US" dirty="0" smtClean="0"/>
              <a:t>display a </a:t>
            </a:r>
            <a:br>
              <a:rPr lang="en-US" dirty="0" smtClean="0"/>
            </a:br>
            <a:r>
              <a:rPr lang="en-US" dirty="0" smtClean="0"/>
              <a:t>digital </a:t>
            </a:r>
            <a:r>
              <a:rPr lang="en-US" dirty="0"/>
              <a:t>clock.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5761" y="4741014"/>
            <a:ext cx="4053797" cy="2076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1: </a:t>
            </a:r>
            <a:r>
              <a:rPr lang="en-US" b="1" dirty="0"/>
              <a:t>Digital Clock Page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Finally, we need to ensure the clock updates </a:t>
            </a:r>
            <a:r>
              <a:rPr lang="en-US" dirty="0" smtClean="0"/>
              <a:t>with the </a:t>
            </a:r>
            <a:r>
              <a:rPr lang="en-US" dirty="0"/>
              <a:t>correct time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dirty="0"/>
              <a:t>This is </a:t>
            </a:r>
            <a:r>
              <a:rPr lang="en-US" dirty="0" smtClean="0"/>
              <a:t>where JavaScript </a:t>
            </a:r>
            <a:r>
              <a:rPr lang="en-US" dirty="0"/>
              <a:t>comes in.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HTML references a </a:t>
            </a:r>
            <a:r>
              <a:rPr lang="en-US" dirty="0" smtClean="0"/>
              <a:t>JavaScript file </a:t>
            </a:r>
            <a:r>
              <a:rPr lang="en-US" dirty="0"/>
              <a:t>called clock.js.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browser will </a:t>
            </a:r>
            <a:r>
              <a:rPr lang="en-US" sz="3000" b="1" dirty="0">
                <a:solidFill>
                  <a:srgbClr val="C00000"/>
                </a:solidFill>
              </a:rPr>
              <a:t>retrieveclock.js</a:t>
            </a:r>
            <a:r>
              <a:rPr lang="en-US" dirty="0"/>
              <a:t> and process it.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4679" y="2774022"/>
            <a:ext cx="3366499" cy="40230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1: </a:t>
            </a:r>
            <a:r>
              <a:rPr lang="en-US" b="1" dirty="0"/>
              <a:t>Digital Clock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JavaScript </a:t>
            </a:r>
            <a:r>
              <a:rPr lang="en-US" dirty="0" smtClean="0"/>
              <a:t>file contains </a:t>
            </a:r>
            <a:r>
              <a:rPr lang="en-US" dirty="0"/>
              <a:t>code that every second updates </a:t>
            </a:r>
            <a:r>
              <a:rPr lang="en-US" dirty="0" smtClean="0"/>
              <a:t>the content </a:t>
            </a:r>
            <a:r>
              <a:rPr lang="en-US" dirty="0"/>
              <a:t>of the hour, minute, and second elements.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With </a:t>
            </a:r>
            <a:r>
              <a:rPr lang="en-US" dirty="0"/>
              <a:t>the three files </a:t>
            </a:r>
            <a:r>
              <a:rPr lang="en-US" dirty="0" smtClean="0"/>
              <a:t>created and </a:t>
            </a:r>
            <a:r>
              <a:rPr lang="en-US" dirty="0"/>
              <a:t>linked together, your clock is fully functional.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clock example demonstrates JavaScript </a:t>
            </a:r>
            <a:br>
              <a:rPr lang="en-US" dirty="0" smtClean="0"/>
            </a:br>
            <a:r>
              <a:rPr lang="en-US" dirty="0" smtClean="0"/>
              <a:t>dynamically updating </a:t>
            </a:r>
            <a:r>
              <a:rPr lang="en-US" dirty="0"/>
              <a:t>content.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8811" y="4530904"/>
            <a:ext cx="4035698" cy="22354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1826" y="4592548"/>
            <a:ext cx="4720173" cy="21455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2: Video Playing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JavaScript can also </a:t>
            </a:r>
            <a:r>
              <a:rPr lang="en-US" dirty="0" smtClean="0"/>
              <a:t>be used </a:t>
            </a:r>
            <a:r>
              <a:rPr lang="en-US" dirty="0"/>
              <a:t>for interaction.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next </a:t>
            </a:r>
            <a:r>
              <a:rPr lang="en-US" dirty="0" smtClean="0"/>
              <a:t>example demonstrates </a:t>
            </a:r>
            <a:r>
              <a:rPr lang="en-US" dirty="0"/>
              <a:t>how JavaScript can </a:t>
            </a:r>
            <a:r>
              <a:rPr lang="en-US" dirty="0" smtClean="0"/>
              <a:t>be used </a:t>
            </a:r>
            <a:r>
              <a:rPr lang="en-US" dirty="0"/>
              <a:t>interactively.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It's </a:t>
            </a:r>
            <a:r>
              <a:rPr lang="en-US" dirty="0"/>
              <a:t>a web </a:t>
            </a:r>
            <a:r>
              <a:rPr lang="en-US" dirty="0" smtClean="0"/>
              <a:t>page that </a:t>
            </a:r>
            <a:r>
              <a:rPr lang="en-US" dirty="0"/>
              <a:t>plays a video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Below the video, there is a button that plays or pauses the video. 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The button contains a play icon. </a:t>
            </a:r>
            <a:r>
              <a:rPr lang="en-US" dirty="0" smtClean="0"/>
              <a:t> </a:t>
            </a:r>
            <a:endParaRPr lang="en-US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2: Video Playing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My </a:t>
            </a:r>
            <a:r>
              <a:rPr lang="en-US" dirty="0"/>
              <a:t>HTML page </a:t>
            </a:r>
            <a:r>
              <a:rPr lang="en-US" dirty="0" smtClean="0"/>
              <a:t>describes the </a:t>
            </a:r>
            <a:r>
              <a:rPr lang="en-US" dirty="0"/>
              <a:t>content, which is the video </a:t>
            </a:r>
            <a:r>
              <a:rPr lang="en-US" dirty="0" smtClean="0"/>
              <a:t>element and </a:t>
            </a:r>
            <a:r>
              <a:rPr lang="en-US" dirty="0"/>
              <a:t>the Play button element.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2578813" y="3482940"/>
            <a:ext cx="7331789" cy="3043742"/>
            <a:chOff x="2019630" y="2998150"/>
            <a:chExt cx="8209471" cy="360045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19630" y="4037744"/>
              <a:ext cx="3201139" cy="152126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99951" y="2998150"/>
              <a:ext cx="4629150" cy="36004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2: Video Playing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HTML code references a CSS file that </a:t>
            </a:r>
            <a:r>
              <a:rPr lang="en-US" dirty="0" smtClean="0"/>
              <a:t>the browser </a:t>
            </a:r>
            <a:r>
              <a:rPr lang="en-US" dirty="0"/>
              <a:t>retrieves.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applies the </a:t>
            </a:r>
            <a:r>
              <a:rPr lang="en-US" dirty="0" smtClean="0"/>
              <a:t>styling to </a:t>
            </a:r>
            <a:r>
              <a:rPr lang="en-US" dirty="0"/>
              <a:t>the video and button.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3000052" y="3462391"/>
            <a:ext cx="6474602" cy="3126054"/>
            <a:chOff x="3000700" y="3379483"/>
            <a:chExt cx="7295889" cy="340417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00700" y="3851239"/>
              <a:ext cx="2787075" cy="2460661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1004" y="3379483"/>
              <a:ext cx="3975585" cy="34041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2: Video Playing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code in the HTML file also references </a:t>
            </a:r>
            <a:r>
              <a:rPr lang="en-US" dirty="0" smtClean="0"/>
              <a:t>a JavaScript </a:t>
            </a:r>
            <a:r>
              <a:rPr lang="en-US" dirty="0"/>
              <a:t>file.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browser will retrieve the videoplayer.js </a:t>
            </a:r>
            <a:r>
              <a:rPr lang="en-US" dirty="0" smtClean="0"/>
              <a:t>file and </a:t>
            </a:r>
            <a:r>
              <a:rPr lang="en-US" dirty="0"/>
              <a:t>process it.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7349" y="3544585"/>
            <a:ext cx="6517302" cy="30111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069" y="3667874"/>
            <a:ext cx="6324722" cy="31039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2: Video Playing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our example, the code in the JavaScript </a:t>
            </a:r>
            <a:r>
              <a:rPr lang="en-US" dirty="0" smtClean="0"/>
              <a:t>file performs </a:t>
            </a:r>
            <a:r>
              <a:rPr lang="en-US" sz="3000" b="1" dirty="0">
                <a:solidFill>
                  <a:srgbClr val="C00000"/>
                </a:solidFill>
              </a:rPr>
              <a:t>four</a:t>
            </a:r>
            <a:r>
              <a:rPr lang="en-US" dirty="0"/>
              <a:t> actions. 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000" b="1" dirty="0" smtClean="0">
                <a:solidFill>
                  <a:srgbClr val="C00000"/>
                </a:solidFill>
              </a:rPr>
              <a:t>1. Firstly</a:t>
            </a:r>
            <a:r>
              <a:rPr lang="en-US" sz="3000" b="1" dirty="0">
                <a:solidFill>
                  <a:srgbClr val="C00000"/>
                </a:solidFill>
              </a:rPr>
              <a:t>, </a:t>
            </a:r>
            <a:r>
              <a:rPr lang="en-US" dirty="0"/>
              <a:t>it </a:t>
            </a:r>
            <a:r>
              <a:rPr lang="en-US" dirty="0" smtClean="0"/>
              <a:t>registers a </a:t>
            </a:r>
            <a:r>
              <a:rPr lang="en-US" dirty="0"/>
              <a:t>listener on the button that will execute some code when </a:t>
            </a:r>
            <a:r>
              <a:rPr lang="en-US" dirty="0" smtClean="0"/>
              <a:t>the button </a:t>
            </a:r>
            <a:r>
              <a:rPr lang="en-US" dirty="0"/>
              <a:t>is clicked.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2: Video Playing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2. The </a:t>
            </a:r>
            <a:r>
              <a:rPr lang="en-US" sz="3000" b="1" dirty="0">
                <a:solidFill>
                  <a:srgbClr val="C00000"/>
                </a:solidFill>
              </a:rPr>
              <a:t>second</a:t>
            </a:r>
            <a:r>
              <a:rPr lang="en-US" dirty="0"/>
              <a:t> function </a:t>
            </a:r>
            <a:r>
              <a:rPr lang="en-US" dirty="0" smtClean="0"/>
              <a:t>is that </a:t>
            </a:r>
            <a:r>
              <a:rPr lang="en-US" dirty="0"/>
              <a:t>when the code runs, it checks the </a:t>
            </a:r>
            <a:r>
              <a:rPr lang="en-US" dirty="0" smtClean="0"/>
              <a:t>current state </a:t>
            </a:r>
            <a:r>
              <a:rPr lang="en-US" dirty="0"/>
              <a:t>of the video.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2836" y="3438438"/>
            <a:ext cx="6601092" cy="33163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2: Video Playing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3. The </a:t>
            </a:r>
            <a:r>
              <a:rPr lang="en-US" dirty="0"/>
              <a:t>result of that check is, if the video </a:t>
            </a:r>
            <a:r>
              <a:rPr lang="en-US" dirty="0" smtClean="0"/>
              <a:t>is currently </a:t>
            </a:r>
            <a:r>
              <a:rPr lang="en-US" dirty="0"/>
              <a:t>stopped, </a:t>
            </a:r>
            <a:br>
              <a:rPr lang="en-US" dirty="0" smtClean="0"/>
            </a:br>
            <a:r>
              <a:rPr lang="en-US" dirty="0" smtClean="0"/>
              <a:t>it </a:t>
            </a:r>
            <a:r>
              <a:rPr lang="en-US" dirty="0"/>
              <a:t>begins playing the video and changes the </a:t>
            </a:r>
            <a:r>
              <a:rPr lang="en-US" dirty="0" smtClean="0"/>
              <a:t>buttons icon </a:t>
            </a:r>
            <a:r>
              <a:rPr lang="en-US" dirty="0"/>
              <a:t>to a stop icon.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4232953" y="3513762"/>
            <a:ext cx="7812854" cy="3240265"/>
            <a:chOff x="3402968" y="3236360"/>
            <a:chExt cx="8642839" cy="351766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798085" y="3236360"/>
              <a:ext cx="4247722" cy="3517667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2968" y="4140484"/>
              <a:ext cx="3703110" cy="19145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489808" y="3380198"/>
            <a:ext cx="7550222" cy="3365241"/>
            <a:chOff x="2968023" y="3075714"/>
            <a:chExt cx="9051458" cy="373136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59039" y="3075714"/>
              <a:ext cx="4560442" cy="3731369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8023" y="3896787"/>
              <a:ext cx="3900734" cy="208922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2: Video Playing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4. Or </a:t>
            </a:r>
            <a:r>
              <a:rPr lang="en-US" dirty="0"/>
              <a:t>if the video </a:t>
            </a:r>
            <a:r>
              <a:rPr lang="en-US" dirty="0" smtClean="0"/>
              <a:t>is currently </a:t>
            </a:r>
            <a:r>
              <a:rPr lang="en-US" dirty="0"/>
              <a:t>playing, it stops playing the video </a:t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dirty="0"/>
              <a:t>changes the </a:t>
            </a:r>
            <a:r>
              <a:rPr lang="en-US" dirty="0" smtClean="0"/>
              <a:t>buttons icon </a:t>
            </a:r>
            <a:r>
              <a:rPr lang="en-US" dirty="0"/>
              <a:t>to a play icon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5260369" y="3719245"/>
            <a:ext cx="6779660" cy="3026194"/>
            <a:chOff x="2968023" y="3075714"/>
            <a:chExt cx="9051458" cy="373136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59039" y="3075714"/>
              <a:ext cx="4560442" cy="3731369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8023" y="3896787"/>
              <a:ext cx="3900734" cy="208922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2: Video Playing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Using the three files you create a fully interactive video player.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I hope those </a:t>
            </a:r>
            <a:r>
              <a:rPr lang="en-US" dirty="0" smtClean="0"/>
              <a:t>examples give </a:t>
            </a:r>
            <a:r>
              <a:rPr lang="en-US" dirty="0"/>
              <a:t>you an idea of how the three core </a:t>
            </a:r>
            <a:r>
              <a:rPr lang="en-US" dirty="0" smtClean="0"/>
              <a:t>files link </a:t>
            </a:r>
            <a:r>
              <a:rPr lang="en-US" dirty="0"/>
              <a:t>and work together.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In </a:t>
            </a:r>
            <a:r>
              <a:rPr lang="en-US" dirty="0"/>
              <a:t>both the clock and video examples the </a:t>
            </a:r>
            <a:r>
              <a:rPr lang="en-US" dirty="0" smtClean="0"/>
              <a:t>HTML file </a:t>
            </a:r>
            <a:r>
              <a:rPr lang="en-US" dirty="0"/>
              <a:t>references the CSS and </a:t>
            </a:r>
            <a:r>
              <a:rPr lang="en-US" dirty="0" smtClean="0"/>
              <a:t>the JavaScript </a:t>
            </a:r>
            <a:r>
              <a:rPr lang="en-US" dirty="0"/>
              <a:t>files.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CSS file is called on to format and </a:t>
            </a:r>
            <a:r>
              <a:rPr lang="en-US" dirty="0" smtClean="0"/>
              <a:t>style your </a:t>
            </a:r>
            <a:r>
              <a:rPr lang="en-US" dirty="0"/>
              <a:t>application, and the code in </a:t>
            </a:r>
            <a:r>
              <a:rPr lang="en-US" dirty="0" smtClean="0"/>
              <a:t>the JavaScript </a:t>
            </a:r>
            <a:r>
              <a:rPr lang="en-US" dirty="0"/>
              <a:t>file implements the core functions </a:t>
            </a:r>
            <a:r>
              <a:rPr lang="en-US"/>
              <a:t>of </a:t>
            </a:r>
            <a:r>
              <a:rPr lang="en-US" smtClean="0"/>
              <a:t>the app </a:t>
            </a:r>
            <a:r>
              <a:rPr lang="en-US" dirty="0"/>
              <a:t>and user interactivity.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Additional Resources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Learn </a:t>
            </a:r>
            <a:r>
              <a:rPr lang="en-US" b="1" dirty="0"/>
              <a:t>more </a:t>
            </a:r>
            <a:r>
              <a:rPr lang="en-US" dirty="0"/>
              <a:t>Here is a list of resources that may be helpful as you continue your learning journey.</a:t>
            </a:r>
            <a:endParaRPr lang="en-US" dirty="0"/>
          </a:p>
          <a:p>
            <a:r>
              <a:rPr lang="en-US" b="1" dirty="0"/>
              <a:t>HTTP Overview (Mozilla)</a:t>
            </a:r>
            <a:endParaRPr lang="en-US" dirty="0"/>
          </a:p>
          <a:p>
            <a:r>
              <a:rPr lang="en-US" u="sng" dirty="0">
                <a:hlinkClick r:id="rId1"/>
              </a:rPr>
              <a:t>https://developer.mozilla.org/en-US/docs/Web/HTTP/Overview</a:t>
            </a:r>
            <a:endParaRPr lang="en-US" dirty="0"/>
          </a:p>
          <a:p>
            <a:r>
              <a:rPr lang="en-US" b="1" dirty="0"/>
              <a:t>Introduction to Networking by </a:t>
            </a:r>
            <a:r>
              <a:rPr lang="en-US" b="1" dirty="0" err="1"/>
              <a:t>Dr.Charles</a:t>
            </a:r>
            <a:r>
              <a:rPr lang="en-US" b="1" dirty="0"/>
              <a:t> R Severance</a:t>
            </a:r>
            <a:endParaRPr lang="en-US" dirty="0"/>
          </a:p>
          <a:p>
            <a:r>
              <a:rPr lang="en-US" u="sng" dirty="0">
                <a:hlinkClick r:id="rId2"/>
              </a:rPr>
              <a:t>https://www.amazon.com/Introduction-Networking-How-Internet-Works/dp/1511654945/</a:t>
            </a:r>
            <a:endParaRPr lang="en-US" dirty="0"/>
          </a:p>
          <a:p>
            <a:r>
              <a:rPr lang="en-US" b="1" dirty="0"/>
              <a:t>Chrome Developer Tools Overview (Google)</a:t>
            </a:r>
            <a:endParaRPr lang="en-US" dirty="0"/>
          </a:p>
          <a:p>
            <a:r>
              <a:rPr lang="en-US" u="sng" dirty="0">
                <a:hlinkClick r:id="rId3"/>
              </a:rPr>
              <a:t>https://developer.chrome.com/docs/devtools/overview/</a:t>
            </a:r>
            <a:endParaRPr lang="en-US" dirty="0"/>
          </a:p>
          <a:p>
            <a:r>
              <a:rPr lang="en-US" b="1" dirty="0"/>
              <a:t>Firefox Developer Tools User Docs (Mozilla)</a:t>
            </a:r>
            <a:endParaRPr lang="en-US" dirty="0"/>
          </a:p>
          <a:p>
            <a:r>
              <a:rPr lang="en-US" u="sng" dirty="0">
                <a:hlinkClick r:id="rId4"/>
              </a:rPr>
              <a:t>https://firefox-source-docs.mozilla.org/devtools-user/index.html</a:t>
            </a:r>
            <a:endParaRPr lang="en-US" dirty="0"/>
          </a:p>
          <a:p>
            <a:r>
              <a:rPr lang="en-US" b="1" dirty="0"/>
              <a:t>Getting Started with Visual Studio Code (Microsoft)</a:t>
            </a:r>
            <a:endParaRPr lang="en-US" dirty="0"/>
          </a:p>
          <a:p>
            <a:r>
              <a:rPr lang="en-US" u="sng" dirty="0">
                <a:hlinkClick r:id="rId5"/>
              </a:rPr>
              <a:t>https://code.visualstudio.com/docs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2679699"/>
            <a:ext cx="9144000" cy="1122363"/>
          </a:xfrm>
        </p:spPr>
        <p:txBody>
          <a:bodyPr/>
          <a:lstStyle/>
          <a:p>
            <a:r>
              <a:rPr lang="en-US" b="1" dirty="0" smtClean="0">
                <a:latin typeface="Book Antiqua" panose="02040602050305030304" pitchFamily="18" charset="0"/>
              </a:rPr>
              <a:t>Thank You</a:t>
            </a:r>
            <a:endParaRPr lang="en-US" b="1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4547</Words>
  <Application>WPS Presentation</Application>
  <PresentationFormat>Widescreen</PresentationFormat>
  <Paragraphs>126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Book Antiqua</vt:lpstr>
      <vt:lpstr>Office Theme</vt:lpstr>
      <vt:lpstr>HTML, CSS &amp; JavaScript</vt:lpstr>
      <vt:lpstr>Introduction</vt:lpstr>
      <vt:lpstr>Introduction</vt:lpstr>
      <vt:lpstr>Example 1: Digital Clock Page</vt:lpstr>
      <vt:lpstr>Example 1: Digital Clock Page</vt:lpstr>
      <vt:lpstr>Example 1: Digital Clock Page</vt:lpstr>
      <vt:lpstr>Example 1: Digital Clock Page</vt:lpstr>
      <vt:lpstr>Example 1: Digital Clock Page</vt:lpstr>
      <vt:lpstr>Example 1: Digital Clock Page</vt:lpstr>
      <vt:lpstr>Example 1: Digital Clock Page</vt:lpstr>
      <vt:lpstr>Example 2: Video Playing</vt:lpstr>
      <vt:lpstr>Example 2: Video Playing</vt:lpstr>
      <vt:lpstr>Example 2: Video Playing</vt:lpstr>
      <vt:lpstr>Example 2: Video Playing</vt:lpstr>
      <vt:lpstr>Example 2: Video Playing</vt:lpstr>
      <vt:lpstr>Example 2: Video Playing</vt:lpstr>
      <vt:lpstr>Example 2: Video Playing</vt:lpstr>
      <vt:lpstr>Example 2: Video Playing</vt:lpstr>
      <vt:lpstr>Example 2: Video Playing</vt:lpstr>
      <vt:lpstr>Summary</vt:lpstr>
      <vt:lpstr>Additional Resources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Habib</dc:creator>
  <cp:lastModifiedBy>Shahzeb Iqbal</cp:lastModifiedBy>
  <cp:revision>156</cp:revision>
  <dcterms:created xsi:type="dcterms:W3CDTF">2023-01-28T07:00:00Z</dcterms:created>
  <dcterms:modified xsi:type="dcterms:W3CDTF">2026-09-22T13:24:44Z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F1E7E5718CA64267A936D35A6CE35939_12</vt:lpwstr>
  </property>
</Properties>
</file>