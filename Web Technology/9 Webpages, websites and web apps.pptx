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  <p:sldId id="334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51" r:id="rId16"/>
    <p:sldId id="299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D2FAEA-0C39-44F2-9ED0-32D173F6752C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059A5-90ED-463C-9D85-D46C5344269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A5FC5F-10FD-4831-9B2E-58BD7DB57131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B52E4-C931-4150-8FCC-2EDD28A821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3DA8C-FBAB-4D76-B03A-1701013E6A2A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hyperlink" Target="https://code.visualstudio.com/docs" TargetMode="External"/><Relationship Id="rId4" Type="http://schemas.openxmlformats.org/officeDocument/2006/relationships/hyperlink" Target="https://firefox-source-docs.mozilla.org/devtools-user/index.html" TargetMode="External"/><Relationship Id="rId3" Type="http://schemas.openxmlformats.org/officeDocument/2006/relationships/hyperlink" Target="https://developer.chrome.com/docs/devtools/overview/" TargetMode="External"/><Relationship Id="rId2" Type="http://schemas.openxmlformats.org/officeDocument/2006/relationships/hyperlink" Target="https://www.amazon.com/Introduction-Networking-How-Internet-Works/dp/1511654945/" TargetMode="External"/><Relationship Id="rId1" Type="http://schemas.openxmlformats.org/officeDocument/2006/relationships/hyperlink" Target="https://developer.mozilla.org/en-US/docs/Web/HTTP/Overview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10649" y="534259"/>
            <a:ext cx="12192000" cy="1417833"/>
          </a:xfrm>
          <a:solidFill>
            <a:schemeClr val="bg1"/>
          </a:solidFill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7000" b="1" dirty="0" smtClean="0"/>
              <a:t>Websites and Web Apps</a:t>
            </a:r>
            <a:endParaRPr lang="en-US" sz="5000" b="1" dirty="0"/>
          </a:p>
        </p:txBody>
      </p:sp>
      <p:sp useBgFill="1">
        <p:nvSpPr>
          <p:cNvPr id="5" name="TextBox 4"/>
          <p:cNvSpPr txBox="1"/>
          <p:nvPr/>
        </p:nvSpPr>
        <p:spPr>
          <a:xfrm>
            <a:off x="4283773" y="6083300"/>
            <a:ext cx="309880" cy="55308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sz="3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3773" y="2784297"/>
            <a:ext cx="3646746" cy="26267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Webpage, Website and Web Apps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When you do something online, you are likely </a:t>
            </a:r>
            <a:r>
              <a:rPr lang="en-US" dirty="0" smtClean="0"/>
              <a:t>to encounter </a:t>
            </a:r>
            <a:r>
              <a:rPr lang="en-US" dirty="0"/>
              <a:t>web pages, websites, and web applications.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But </a:t>
            </a:r>
            <a:r>
              <a:rPr lang="en-US" dirty="0"/>
              <a:t>how do they differ</a:t>
            </a:r>
            <a:r>
              <a:rPr lang="en-US" dirty="0" smtClean="0"/>
              <a:t>? As </a:t>
            </a:r>
            <a:r>
              <a:rPr lang="en-US" dirty="0"/>
              <a:t>a developer, how do you </a:t>
            </a:r>
            <a:r>
              <a:rPr lang="en-US" dirty="0" smtClean="0"/>
              <a:t>decide which </a:t>
            </a:r>
            <a:r>
              <a:rPr lang="en-US" dirty="0"/>
              <a:t>one to create?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Let's </a:t>
            </a:r>
            <a:r>
              <a:rPr lang="en-US" dirty="0"/>
              <a:t>explore the </a:t>
            </a:r>
            <a:r>
              <a:rPr lang="en-US" dirty="0" smtClean="0"/>
              <a:t>main features </a:t>
            </a:r>
            <a:r>
              <a:rPr lang="en-US" dirty="0"/>
              <a:t>of each one. </a:t>
            </a:r>
            <a:endParaRPr lang="en-US" dirty="0" smtClean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Webpage, Website and Web Apps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A </a:t>
            </a:r>
            <a:r>
              <a:rPr lang="en-US" dirty="0"/>
              <a:t>typical web page </a:t>
            </a:r>
            <a:r>
              <a:rPr lang="en-US" dirty="0" smtClean="0"/>
              <a:t>is one </a:t>
            </a:r>
            <a:r>
              <a:rPr lang="en-US" dirty="0"/>
              <a:t>single page that consists of HTML,CSS, and JavaScript.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It </a:t>
            </a:r>
            <a:r>
              <a:rPr lang="en-US" dirty="0"/>
              <a:t>displays images, text, videos, and other </a:t>
            </a:r>
            <a:r>
              <a:rPr lang="en-US" dirty="0" smtClean="0"/>
              <a:t>content in </a:t>
            </a:r>
            <a:r>
              <a:rPr lang="en-US" dirty="0"/>
              <a:t>the web browser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If </a:t>
            </a:r>
            <a:r>
              <a:rPr lang="en-US" dirty="0"/>
              <a:t>a web page is one </a:t>
            </a:r>
            <a:r>
              <a:rPr lang="en-US" dirty="0" smtClean="0"/>
              <a:t>single page </a:t>
            </a:r>
            <a:r>
              <a:rPr lang="en-US" dirty="0"/>
              <a:t>then a website is a collection of webpages that link together under one domain name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You've likely visited many websites this week.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Webpage, Website and Web Apps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You </a:t>
            </a:r>
            <a:r>
              <a:rPr lang="en-US" dirty="0"/>
              <a:t>know, when you visit your </a:t>
            </a:r>
            <a:r>
              <a:rPr lang="en-US" dirty="0" smtClean="0"/>
              <a:t>favorite encyclopedia </a:t>
            </a:r>
            <a:r>
              <a:rPr lang="en-US" dirty="0"/>
              <a:t>website and the homepage has a lot of links to different articles, clicking on one </a:t>
            </a:r>
            <a:r>
              <a:rPr lang="en-US" dirty="0" smtClean="0"/>
              <a:t>of those </a:t>
            </a:r>
            <a:r>
              <a:rPr lang="en-US" dirty="0"/>
              <a:t>links brings you to an article on a new web page, and that article </a:t>
            </a:r>
            <a:r>
              <a:rPr lang="en-US" dirty="0" smtClean="0"/>
              <a:t>links to </a:t>
            </a:r>
            <a:r>
              <a:rPr lang="en-US" dirty="0"/>
              <a:t>more articles, and other web pages</a:t>
            </a:r>
            <a:r>
              <a:rPr lang="en-US" dirty="0" smtClean="0"/>
              <a:t>.</a:t>
            </a:r>
            <a:endParaRPr lang="en-US" dirty="0" smtClean="0"/>
          </a:p>
          <a:p>
            <a:pPr>
              <a:lnSpc>
                <a:spcPct val="150000"/>
              </a:lnSpc>
            </a:pPr>
            <a:r>
              <a:rPr lang="en-US" dirty="0"/>
              <a:t>Well, since all of these web pages exist </a:t>
            </a:r>
            <a:br>
              <a:rPr lang="en-US" dirty="0" smtClean="0"/>
            </a:br>
            <a:r>
              <a:rPr lang="en-US" dirty="0" smtClean="0"/>
              <a:t>under </a:t>
            </a:r>
            <a:r>
              <a:rPr lang="en-US" dirty="0"/>
              <a:t>the same domain name, they </a:t>
            </a:r>
            <a:br>
              <a:rPr lang="en-US" dirty="0" smtClean="0"/>
            </a:br>
            <a:r>
              <a:rPr lang="en-US" dirty="0" smtClean="0"/>
              <a:t>are </a:t>
            </a:r>
            <a:r>
              <a:rPr lang="en-US" dirty="0"/>
              <a:t>a website. </a:t>
            </a:r>
            <a:endParaRPr lang="en-US" dirty="0"/>
          </a:p>
          <a:p>
            <a:pPr>
              <a:lnSpc>
                <a:spcPct val="150000"/>
              </a:lnSpc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0670" y="3885499"/>
            <a:ext cx="5421330" cy="29725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Webpage, Website and Web Apps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technical term for a link, you click on a </a:t>
            </a:r>
            <a:r>
              <a:rPr lang="en-US" b="1" dirty="0"/>
              <a:t>hyperlink</a:t>
            </a:r>
            <a:r>
              <a:rPr lang="en-US" dirty="0"/>
              <a:t>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This </a:t>
            </a:r>
            <a:r>
              <a:rPr lang="en-US" dirty="0"/>
              <a:t>is because they </a:t>
            </a:r>
            <a:r>
              <a:rPr lang="en-US" dirty="0" smtClean="0"/>
              <a:t>link to </a:t>
            </a:r>
            <a:r>
              <a:rPr lang="en-US" dirty="0"/>
              <a:t>hypertext content. Remember that </a:t>
            </a:r>
            <a:r>
              <a:rPr lang="en-US" b="1" dirty="0"/>
              <a:t>HTML</a:t>
            </a:r>
            <a:r>
              <a:rPr lang="en-US" dirty="0"/>
              <a:t> </a:t>
            </a:r>
            <a:r>
              <a:rPr lang="en-US" dirty="0" smtClean="0"/>
              <a:t>is Hypertext </a:t>
            </a:r>
            <a:r>
              <a:rPr lang="en-US" dirty="0"/>
              <a:t>Markup Language.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However, links themselves, don't have to link to the same website. They can also link to other websites.</a:t>
            </a:r>
            <a:endParaRPr lang="en-US" dirty="0"/>
          </a:p>
          <a:p>
            <a:pPr algn="just">
              <a:lnSpc>
                <a:spcPct val="150000"/>
              </a:lnSpc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2849" y="4742121"/>
            <a:ext cx="4399151" cy="211587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Webpage, Website and Web Apps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For </a:t>
            </a:r>
            <a:r>
              <a:rPr lang="en-US" dirty="0"/>
              <a:t>example when you go to your favorite search </a:t>
            </a:r>
            <a:r>
              <a:rPr lang="en-US" dirty="0" smtClean="0"/>
              <a:t>engine and </a:t>
            </a:r>
            <a:r>
              <a:rPr lang="en-US" dirty="0"/>
              <a:t>search for a </a:t>
            </a:r>
            <a:r>
              <a:rPr lang="en-US" dirty="0" smtClean="0"/>
              <a:t>phrase, </a:t>
            </a:r>
            <a:r>
              <a:rPr lang="en-US" dirty="0"/>
              <a:t>the search results are a </a:t>
            </a:r>
            <a:r>
              <a:rPr lang="en-US" dirty="0" smtClean="0"/>
              <a:t>list of </a:t>
            </a:r>
            <a:r>
              <a:rPr lang="en-US" dirty="0"/>
              <a:t>links to other websites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You'll </a:t>
            </a:r>
            <a:r>
              <a:rPr lang="en-US" dirty="0"/>
              <a:t>explore </a:t>
            </a:r>
            <a:r>
              <a:rPr lang="en-US" dirty="0" smtClean="0"/>
              <a:t>more about </a:t>
            </a:r>
            <a:r>
              <a:rPr lang="en-US" dirty="0"/>
              <a:t>hyperlinks later.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1343" y="4114800"/>
            <a:ext cx="5200657" cy="26256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Webpage, Website and Web Apps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By now, you should probably know the difference between </a:t>
            </a:r>
            <a:r>
              <a:rPr lang="en-US" dirty="0" smtClean="0"/>
              <a:t>a web </a:t>
            </a:r>
            <a:r>
              <a:rPr lang="en-US" dirty="0"/>
              <a:t>page and the websites, but what about </a:t>
            </a:r>
            <a:r>
              <a:rPr lang="en-US" dirty="0" smtClean="0"/>
              <a:t>a web </a:t>
            </a:r>
            <a:r>
              <a:rPr lang="en-US" dirty="0"/>
              <a:t>application?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This </a:t>
            </a:r>
            <a:r>
              <a:rPr lang="en-US" dirty="0"/>
              <a:t>is where the </a:t>
            </a:r>
            <a:r>
              <a:rPr lang="en-US" dirty="0" smtClean="0"/>
              <a:t>definitions gets </a:t>
            </a:r>
            <a:r>
              <a:rPr lang="en-US" dirty="0"/>
              <a:t>a little more blurred</a:t>
            </a:r>
            <a:r>
              <a:rPr lang="en-US" dirty="0" smtClean="0"/>
              <a:t>.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/>
              <a:t>The terms website and web application are often used interchangeably. 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Webpage, Website and Web Apps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key </a:t>
            </a:r>
            <a:r>
              <a:rPr lang="en-US" dirty="0" smtClean="0"/>
              <a:t>difference between </a:t>
            </a:r>
            <a:r>
              <a:rPr lang="en-US" dirty="0"/>
              <a:t>a website, and web </a:t>
            </a:r>
            <a:r>
              <a:rPr lang="en-US" dirty="0" smtClean="0"/>
              <a:t>application is </a:t>
            </a:r>
            <a:r>
              <a:rPr lang="en-US" dirty="0"/>
              <a:t>the level of interactivity, </a:t>
            </a:r>
            <a:r>
              <a:rPr lang="en-US" dirty="0" smtClean="0"/>
              <a:t>and dynamic </a:t>
            </a:r>
            <a:r>
              <a:rPr lang="en-US" dirty="0"/>
              <a:t>content.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The </a:t>
            </a:r>
            <a:r>
              <a:rPr lang="en-US" dirty="0"/>
              <a:t>easy way to </a:t>
            </a:r>
            <a:r>
              <a:rPr lang="en-US" dirty="0" smtClean="0"/>
              <a:t>remember this </a:t>
            </a:r>
            <a:r>
              <a:rPr lang="en-US" dirty="0"/>
              <a:t>is </a:t>
            </a:r>
            <a:r>
              <a:rPr lang="en-US" dirty="0" smtClean="0"/>
              <a:t>that:</a:t>
            </a:r>
            <a:endParaRPr lang="en-US" dirty="0" smtClean="0"/>
          </a:p>
          <a:p>
            <a:pPr lvl="1" algn="just">
              <a:lnSpc>
                <a:spcPct val="150000"/>
              </a:lnSpc>
            </a:pPr>
            <a:r>
              <a:rPr lang="en-US" sz="2800" b="1" dirty="0" smtClean="0">
                <a:solidFill>
                  <a:srgbClr val="C00000"/>
                </a:solidFill>
              </a:rPr>
              <a:t>a </a:t>
            </a:r>
            <a:r>
              <a:rPr lang="en-US" sz="2800" b="1" dirty="0">
                <a:solidFill>
                  <a:srgbClr val="C00000"/>
                </a:solidFill>
              </a:rPr>
              <a:t>website is more informative and </a:t>
            </a:r>
            <a:endParaRPr lang="en-US" sz="2800" b="1" dirty="0" smtClean="0">
              <a:solidFill>
                <a:srgbClr val="C00000"/>
              </a:solidFill>
            </a:endParaRPr>
          </a:p>
          <a:p>
            <a:pPr lvl="1" algn="just">
              <a:lnSpc>
                <a:spcPct val="150000"/>
              </a:lnSpc>
            </a:pPr>
            <a:r>
              <a:rPr lang="en-US" sz="2800" b="1" dirty="0" smtClean="0">
                <a:solidFill>
                  <a:srgbClr val="C00000"/>
                </a:solidFill>
              </a:rPr>
              <a:t>a </a:t>
            </a:r>
            <a:r>
              <a:rPr lang="en-US" sz="2800" b="1" dirty="0">
                <a:solidFill>
                  <a:srgbClr val="C00000"/>
                </a:solidFill>
              </a:rPr>
              <a:t>web application </a:t>
            </a:r>
            <a:r>
              <a:rPr lang="en-US" sz="2800" b="1" dirty="0" smtClean="0">
                <a:solidFill>
                  <a:srgbClr val="C00000"/>
                </a:solidFill>
              </a:rPr>
              <a:t>is more </a:t>
            </a:r>
            <a:r>
              <a:rPr lang="en-US" sz="2800" b="1" dirty="0">
                <a:solidFill>
                  <a:srgbClr val="C00000"/>
                </a:solidFill>
              </a:rPr>
              <a:t>interactive.</a:t>
            </a:r>
            <a:endParaRPr lang="en-US" sz="2800" b="1" dirty="0">
              <a:solidFill>
                <a:srgbClr val="C00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7941" y="4006918"/>
            <a:ext cx="4705242" cy="281057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Webpage, Website and Web Apps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Think of ordering food online. Let's say you </a:t>
            </a:r>
            <a:r>
              <a:rPr lang="en-US" dirty="0" smtClean="0"/>
              <a:t>would like </a:t>
            </a:r>
            <a:r>
              <a:rPr lang="en-US" dirty="0"/>
              <a:t>to order some food and you </a:t>
            </a:r>
            <a:r>
              <a:rPr lang="en-US" dirty="0" smtClean="0"/>
              <a:t>go to </a:t>
            </a:r>
            <a:r>
              <a:rPr lang="en-US" dirty="0"/>
              <a:t>your favorite site, the browser </a:t>
            </a:r>
            <a:r>
              <a:rPr lang="en-US" dirty="0" smtClean="0"/>
              <a:t>then displays </a:t>
            </a:r>
            <a:r>
              <a:rPr lang="en-US" dirty="0"/>
              <a:t>a web page, you select some food from </a:t>
            </a:r>
            <a:r>
              <a:rPr lang="en-US" dirty="0" smtClean="0"/>
              <a:t>the menu </a:t>
            </a:r>
            <a:r>
              <a:rPr lang="en-US" dirty="0"/>
              <a:t>and submit your order</a:t>
            </a:r>
            <a:r>
              <a:rPr lang="en-US" dirty="0" smtClean="0"/>
              <a:t>.</a:t>
            </a: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9948" y="3960198"/>
            <a:ext cx="4673553" cy="260498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9021" y="3937670"/>
            <a:ext cx="4469259" cy="262751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Webpage, Website and Web Apps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Compare this to for example, a company website that displays information about themselves and the services they provide.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6503" y="3277456"/>
            <a:ext cx="1896318" cy="340588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575" y="3571974"/>
            <a:ext cx="4673553" cy="26049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Webpage, Website and Web Apps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/>
              <a:t>In the food ordering example, the content </a:t>
            </a:r>
            <a:r>
              <a:rPr lang="en-US" dirty="0" smtClean="0"/>
              <a:t>displayed is </a:t>
            </a:r>
            <a:r>
              <a:rPr lang="en-US" dirty="0"/>
              <a:t>specific to your user </a:t>
            </a:r>
            <a:r>
              <a:rPr lang="en-US" dirty="0" smtClean="0"/>
              <a:t>account and </a:t>
            </a:r>
            <a:r>
              <a:rPr lang="en-US" dirty="0"/>
              <a:t>location, the web </a:t>
            </a:r>
            <a:r>
              <a:rPr lang="en-US" dirty="0" smtClean="0"/>
              <a:t>application displays </a:t>
            </a:r>
            <a:r>
              <a:rPr lang="en-US" dirty="0"/>
              <a:t>content based on the </a:t>
            </a:r>
            <a:r>
              <a:rPr lang="en-US" dirty="0" smtClean="0"/>
              <a:t>user's input </a:t>
            </a:r>
            <a:r>
              <a:rPr lang="en-US" dirty="0"/>
              <a:t>and interaction. </a:t>
            </a: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1407" y="3667875"/>
            <a:ext cx="5570594" cy="31049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Webpage, Website and Web Apps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 smtClean="0"/>
              <a:t>Whereas </a:t>
            </a:r>
            <a:r>
              <a:rPr lang="en-US" dirty="0"/>
              <a:t>with </a:t>
            </a:r>
            <a:r>
              <a:rPr lang="en-US" dirty="0" smtClean="0"/>
              <a:t>the company </a:t>
            </a:r>
            <a:r>
              <a:rPr lang="en-US" dirty="0"/>
              <a:t>website, the user simply </a:t>
            </a:r>
            <a:r>
              <a:rPr lang="en-US" dirty="0" smtClean="0"/>
              <a:t>views the </a:t>
            </a:r>
            <a:r>
              <a:rPr lang="en-US" dirty="0"/>
              <a:t>content and this content is the same for everyone who visits the website.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8723" y="3374613"/>
            <a:ext cx="6937998" cy="34488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Summary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/>
              <a:t>You should now be able </a:t>
            </a:r>
            <a:r>
              <a:rPr lang="en-US" dirty="0" smtClean="0"/>
              <a:t>to distinguish </a:t>
            </a:r>
            <a:r>
              <a:rPr lang="en-US" dirty="0"/>
              <a:t>between web pages, websites, and web applications. </a:t>
            </a:r>
            <a:endParaRPr lang="en-US" dirty="0" smtClean="0"/>
          </a:p>
          <a:p>
            <a:pPr algn="just">
              <a:lnSpc>
                <a:spcPct val="150000"/>
              </a:lnSpc>
            </a:pPr>
            <a:r>
              <a:rPr lang="en-US" dirty="0" smtClean="0"/>
              <a:t>You </a:t>
            </a:r>
            <a:r>
              <a:rPr lang="en-US" dirty="0"/>
              <a:t>know that web pages at a particular </a:t>
            </a:r>
            <a:r>
              <a:rPr lang="en-US" dirty="0" smtClean="0"/>
              <a:t>domain make </a:t>
            </a:r>
            <a:r>
              <a:rPr lang="en-US" dirty="0"/>
              <a:t>up a website, and that the key </a:t>
            </a:r>
            <a:r>
              <a:rPr lang="en-US" dirty="0" smtClean="0"/>
              <a:t>difference between </a:t>
            </a:r>
            <a:r>
              <a:rPr lang="en-US" dirty="0"/>
              <a:t>websites, and web </a:t>
            </a:r>
            <a:r>
              <a:rPr lang="en-US" dirty="0" smtClean="0"/>
              <a:t>applications is </a:t>
            </a:r>
            <a:r>
              <a:rPr lang="en-US" dirty="0"/>
              <a:t>the level of interactivity, </a:t>
            </a:r>
            <a:r>
              <a:rPr lang="en-US" dirty="0" smtClean="0"/>
              <a:t>and dynamic </a:t>
            </a:r>
            <a:r>
              <a:rPr lang="en-US" dirty="0"/>
              <a:t>content.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Additional Resources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Learn </a:t>
            </a:r>
            <a:r>
              <a:rPr lang="en-US" b="1" dirty="0"/>
              <a:t>more </a:t>
            </a:r>
            <a:r>
              <a:rPr lang="en-US" dirty="0"/>
              <a:t>Here is a list of resources that may be helpful as you continue your learning journey.</a:t>
            </a:r>
            <a:endParaRPr lang="en-US" dirty="0"/>
          </a:p>
          <a:p>
            <a:r>
              <a:rPr lang="en-US" b="1" dirty="0"/>
              <a:t>HTTP Overview (Mozilla)</a:t>
            </a:r>
            <a:endParaRPr lang="en-US" dirty="0"/>
          </a:p>
          <a:p>
            <a:r>
              <a:rPr lang="en-US" u="sng" dirty="0">
                <a:hlinkClick r:id="rId1"/>
              </a:rPr>
              <a:t>https://developer.mozilla.org/en-US/docs/Web/HTTP/Overview</a:t>
            </a:r>
            <a:endParaRPr lang="en-US" dirty="0"/>
          </a:p>
          <a:p>
            <a:r>
              <a:rPr lang="en-US" b="1" dirty="0"/>
              <a:t>Introduction to Networking by </a:t>
            </a:r>
            <a:r>
              <a:rPr lang="en-US" b="1" dirty="0" err="1"/>
              <a:t>Dr.Charles</a:t>
            </a:r>
            <a:r>
              <a:rPr lang="en-US" b="1" dirty="0"/>
              <a:t> R Severance</a:t>
            </a:r>
            <a:endParaRPr lang="en-US" dirty="0"/>
          </a:p>
          <a:p>
            <a:r>
              <a:rPr lang="en-US" u="sng" dirty="0">
                <a:hlinkClick r:id="rId2"/>
              </a:rPr>
              <a:t>https://www.amazon.com/Introduction-Networking-How-Internet-Works/dp/1511654945/</a:t>
            </a:r>
            <a:endParaRPr lang="en-US" dirty="0"/>
          </a:p>
          <a:p>
            <a:r>
              <a:rPr lang="en-US" b="1" dirty="0"/>
              <a:t>Chrome Developer Tools Overview (Google)</a:t>
            </a:r>
            <a:endParaRPr lang="en-US" dirty="0"/>
          </a:p>
          <a:p>
            <a:r>
              <a:rPr lang="en-US" u="sng" dirty="0">
                <a:hlinkClick r:id="rId3"/>
              </a:rPr>
              <a:t>https://developer.chrome.com/docs/devtools/overview/</a:t>
            </a:r>
            <a:endParaRPr lang="en-US" dirty="0"/>
          </a:p>
          <a:p>
            <a:r>
              <a:rPr lang="en-US" b="1" dirty="0"/>
              <a:t>Firefox Developer Tools User Docs (Mozilla)</a:t>
            </a:r>
            <a:endParaRPr lang="en-US" dirty="0"/>
          </a:p>
          <a:p>
            <a:r>
              <a:rPr lang="en-US" u="sng" dirty="0">
                <a:hlinkClick r:id="rId4"/>
              </a:rPr>
              <a:t>https://firefox-source-docs.mozilla.org/devtools-user/index.html</a:t>
            </a:r>
            <a:endParaRPr lang="en-US" dirty="0"/>
          </a:p>
          <a:p>
            <a:r>
              <a:rPr lang="en-US" b="1" dirty="0"/>
              <a:t>Getting Started with Visual Studio Code (Microsoft)</a:t>
            </a:r>
            <a:endParaRPr lang="en-US" dirty="0"/>
          </a:p>
          <a:p>
            <a:r>
              <a:rPr lang="en-US" u="sng" dirty="0">
                <a:hlinkClick r:id="rId5"/>
              </a:rPr>
              <a:t>https://code.visualstudio.com/docs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60500" y="2679699"/>
            <a:ext cx="9144000" cy="1122363"/>
          </a:xfrm>
        </p:spPr>
        <p:txBody>
          <a:bodyPr/>
          <a:lstStyle/>
          <a:p>
            <a:r>
              <a:rPr lang="en-US" b="1" dirty="0" smtClean="0">
                <a:latin typeface="Book Antiqua" panose="02040602050305030304" pitchFamily="18" charset="0"/>
              </a:rPr>
              <a:t>Thank You</a:t>
            </a:r>
            <a:endParaRPr lang="en-US" b="1" dirty="0">
              <a:latin typeface="Book Antiqua" panose="0204060205030503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3670</Words>
  <Application>WPS Presentation</Application>
  <PresentationFormat>Widescreen</PresentationFormat>
  <Paragraphs>83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Book Antiqua</vt:lpstr>
      <vt:lpstr>Calibri Light</vt:lpstr>
      <vt:lpstr>Calibri</vt:lpstr>
      <vt:lpstr>Microsoft YaHei</vt:lpstr>
      <vt:lpstr>Arial Unicode MS</vt:lpstr>
      <vt:lpstr>Office Theme</vt:lpstr>
      <vt:lpstr>Websites and Web Apps</vt:lpstr>
      <vt:lpstr>Webpage, Website and Web Apps</vt:lpstr>
      <vt:lpstr>Webpage, Website and Web Apps</vt:lpstr>
      <vt:lpstr>Webpage, Website and Web Apps</vt:lpstr>
      <vt:lpstr>Webpage, Website and Web Apps</vt:lpstr>
      <vt:lpstr>Webpage, Website and Web Apps</vt:lpstr>
      <vt:lpstr>Webpage, Website and Web Apps</vt:lpstr>
      <vt:lpstr>Webpage, Website and Web Apps</vt:lpstr>
      <vt:lpstr>Webpage, Website and Web Apps</vt:lpstr>
      <vt:lpstr>Webpage, Website and Web Apps</vt:lpstr>
      <vt:lpstr>Webpage, Website and Web Apps</vt:lpstr>
      <vt:lpstr>Webpage, Website and Web Apps</vt:lpstr>
      <vt:lpstr>Summary</vt:lpstr>
      <vt:lpstr>Additional Resources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Habib</dc:creator>
  <cp:lastModifiedBy>Shahzeb Iqbal</cp:lastModifiedBy>
  <cp:revision>178</cp:revision>
  <dcterms:created xsi:type="dcterms:W3CDTF">2023-01-28T07:00:00Z</dcterms:created>
  <dcterms:modified xsi:type="dcterms:W3CDTF">2026-10-03T05:42:55Z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7082C8A4264746EF9E5BC5F570C32B3D_12</vt:lpwstr>
  </property>
  <property fmtid="{D5CDD505-2E9C-101B-9397-08002B2CF9AE}" pid="3" name="KSOProductBuildVer">
    <vt:lpwstr>1033-12.1.0.28485</vt:lpwstr>
  </property>
</Properties>
</file>