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73" r:id="rId5"/>
    <p:sldId id="274" r:id="rId6"/>
    <p:sldId id="278" r:id="rId7"/>
    <p:sldId id="284" r:id="rId8"/>
    <p:sldId id="275" r:id="rId9"/>
    <p:sldId id="285" r:id="rId10"/>
    <p:sldId id="276" r:id="rId11"/>
    <p:sldId id="286" r:id="rId12"/>
    <p:sldId id="280" r:id="rId13"/>
    <p:sldId id="287" r:id="rId14"/>
    <p:sldId id="279" r:id="rId15"/>
    <p:sldId id="282" r:id="rId16"/>
    <p:sldId id="283" r:id="rId17"/>
    <p:sldId id="288" r:id="rId18"/>
    <p:sldId id="290" r:id="rId19"/>
    <p:sldId id="289" r:id="rId20"/>
    <p:sldId id="291" r:id="rId21"/>
    <p:sldId id="2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D2FAEA-0C39-44F2-9ED0-32D173F6752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059A5-90ED-463C-9D85-D46C5344269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5FC5F-10FD-4831-9B2E-58BD7DB5713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hyperlink" Target="https://en.wikipedia.org/wiki/Browser_engine" TargetMode="External"/><Relationship Id="rId4" Type="http://schemas.openxmlformats.org/officeDocument/2006/relationships/hyperlink" Target="https://youtu.be/mxT233EdY5c" TargetMode="External"/><Relationship Id="rId3" Type="http://schemas.openxmlformats.org/officeDocument/2006/relationships/hyperlink" Target="https://youtu.be/21eFwbb48sE" TargetMode="External"/><Relationship Id="rId2" Type="http://schemas.openxmlformats.org/officeDocument/2006/relationships/hyperlink" Target="https://www.mozilla.org/en-US/firefox/browsers/what-is-a-browser/" TargetMode="External"/><Relationship Id="rId1" Type="http://schemas.openxmlformats.org/officeDocument/2006/relationships/hyperlink" Target="https://www.nginx.com/resources/glossary/web-server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0649" y="421239"/>
            <a:ext cx="12192000" cy="1510303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7000" b="1" dirty="0" smtClean="0"/>
              <a:t>Web Browser</a:t>
            </a:r>
            <a:endParaRPr lang="en-US" sz="5000" b="1" dirty="0"/>
          </a:p>
        </p:txBody>
      </p:sp>
      <p:sp useBgFill="1">
        <p:nvSpPr>
          <p:cNvPr id="5" name="TextBox 4"/>
          <p:cNvSpPr txBox="1"/>
          <p:nvPr/>
        </p:nvSpPr>
        <p:spPr>
          <a:xfrm>
            <a:off x="4283773" y="6083300"/>
            <a:ext cx="309880" cy="55308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2933" y="2352782"/>
            <a:ext cx="3144836" cy="30911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Web Browser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US" dirty="0" smtClean="0"/>
              <a:t>A </a:t>
            </a:r>
            <a:r>
              <a:rPr lang="en-US" dirty="0"/>
              <a:t>web browser, </a:t>
            </a:r>
            <a:r>
              <a:rPr lang="en-US" dirty="0" smtClean="0"/>
              <a:t>or browser </a:t>
            </a:r>
            <a:r>
              <a:rPr lang="en-US" dirty="0"/>
              <a:t>for short, is a </a:t>
            </a:r>
            <a:r>
              <a:rPr lang="en-US" dirty="0" smtClean="0"/>
              <a:t>software application </a:t>
            </a:r>
            <a:r>
              <a:rPr lang="en-US" dirty="0"/>
              <a:t>that you use to browse </a:t>
            </a:r>
            <a:r>
              <a:rPr lang="en-US" dirty="0" smtClean="0"/>
              <a:t>the World </a:t>
            </a:r>
            <a:r>
              <a:rPr lang="en-US" dirty="0"/>
              <a:t>Wide Web. </a:t>
            </a:r>
            <a:endParaRPr lang="en-US" dirty="0" smtClean="0"/>
          </a:p>
          <a:p>
            <a:pPr algn="just">
              <a:lnSpc>
                <a:spcPct val="170000"/>
              </a:lnSpc>
            </a:pPr>
            <a:r>
              <a:rPr lang="en-US" dirty="0" smtClean="0"/>
              <a:t>It </a:t>
            </a:r>
            <a:r>
              <a:rPr lang="en-US" dirty="0"/>
              <a:t>works by sending a </a:t>
            </a:r>
            <a:r>
              <a:rPr lang="en-US" dirty="0" smtClean="0"/>
              <a:t>request to </a:t>
            </a:r>
            <a:r>
              <a:rPr lang="en-US" dirty="0"/>
              <a:t>a web server and then receives a </a:t>
            </a:r>
            <a:r>
              <a:rPr lang="en-US" dirty="0" smtClean="0"/>
              <a:t>response containing </a:t>
            </a:r>
            <a:r>
              <a:rPr lang="en-US" dirty="0"/>
              <a:t>the content that is to be displayed on </a:t>
            </a:r>
            <a:r>
              <a:rPr lang="en-US" dirty="0" smtClean="0"/>
              <a:t>the screen </a:t>
            </a:r>
            <a:r>
              <a:rPr lang="en-US" dirty="0"/>
              <a:t>of your device.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5228" y="5126804"/>
            <a:ext cx="4876497" cy="17209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HTTP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When you make a </a:t>
            </a:r>
            <a:r>
              <a:rPr lang="en-US" dirty="0" smtClean="0"/>
              <a:t>request using </a:t>
            </a:r>
            <a:r>
              <a:rPr lang="en-US" dirty="0"/>
              <a:t>this URL, the browser and </a:t>
            </a:r>
            <a:r>
              <a:rPr lang="en-US" dirty="0" smtClean="0"/>
              <a:t>server communicate </a:t>
            </a:r>
            <a:r>
              <a:rPr lang="en-US" dirty="0"/>
              <a:t>using a protocol known as the </a:t>
            </a:r>
            <a:r>
              <a:rPr lang="en-US" b="1" dirty="0" smtClean="0"/>
              <a:t>Hyper text Transfer </a:t>
            </a:r>
            <a:r>
              <a:rPr lang="en-US" b="1" dirty="0"/>
              <a:t>Protocol or HTTP</a:t>
            </a:r>
            <a:r>
              <a:rPr lang="en-US" dirty="0"/>
              <a:t>. 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9574" y="4422401"/>
            <a:ext cx="6981878" cy="24150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2733" y="5214977"/>
            <a:ext cx="4948719" cy="16224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HTTP (Request-Response cycle)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Once the web browser receives the content, it displays it on the screen of your device. 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This exchange of information is made possible by something known as the request response cycle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Now, lets demonstrate this using an </a:t>
            </a:r>
            <a:r>
              <a:rPr lang="en-US" dirty="0" smtClean="0"/>
              <a:t>example.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 Browser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0850" y="1990725"/>
            <a:ext cx="8750299" cy="46950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 Browser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First</a:t>
            </a:r>
            <a:r>
              <a:rPr lang="en-US" dirty="0"/>
              <a:t>, </a:t>
            </a:r>
            <a:r>
              <a:rPr lang="en-US" dirty="0" smtClean="0"/>
              <a:t>open </a:t>
            </a:r>
            <a:r>
              <a:rPr lang="en-US" dirty="0"/>
              <a:t>a web browser, which is a software application.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Next</a:t>
            </a:r>
            <a:r>
              <a:rPr lang="en-US" dirty="0"/>
              <a:t>, </a:t>
            </a:r>
            <a:r>
              <a:rPr lang="en-US" dirty="0" smtClean="0"/>
              <a:t>type </a:t>
            </a:r>
            <a:r>
              <a:rPr lang="en-US" dirty="0"/>
              <a:t>the name </a:t>
            </a:r>
            <a:r>
              <a:rPr lang="en-US" dirty="0" smtClean="0"/>
              <a:t>of your </a:t>
            </a:r>
            <a:r>
              <a:rPr lang="en-US" dirty="0"/>
              <a:t>favorite search engine.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name you type contains something called a domain name. 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1" y="4318000"/>
            <a:ext cx="4152900" cy="2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 Browser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When you press Enter, the web browser sends a request across a network and connects to another computer on the Internet called a </a:t>
            </a:r>
            <a:r>
              <a:rPr lang="en-US" b="1" dirty="0"/>
              <a:t>web server</a:t>
            </a:r>
            <a:r>
              <a:rPr lang="en-US" dirty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7772" y="3955548"/>
            <a:ext cx="5583097" cy="28454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0526" y="3419915"/>
            <a:ext cx="5780926" cy="341753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 Browser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The web server is a </a:t>
            </a:r>
            <a:r>
              <a:rPr lang="en-US" dirty="0" smtClean="0"/>
              <a:t>special type </a:t>
            </a:r>
            <a:r>
              <a:rPr lang="en-US" dirty="0"/>
              <a:t>of computer that allows other computers </a:t>
            </a:r>
            <a:r>
              <a:rPr lang="en-US" dirty="0" smtClean="0"/>
              <a:t>to make </a:t>
            </a:r>
            <a:r>
              <a:rPr lang="en-US" dirty="0"/>
              <a:t>requests for data. </a:t>
            </a:r>
            <a:endParaRPr lang="en-US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 Browser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The web server responds by sending a webpage back to the browser.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Once the browser receives all the response information, the search engine webpage is made visible.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914" y="4078841"/>
            <a:ext cx="5427537" cy="27586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 Browser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The web page is a </a:t>
            </a:r>
            <a:r>
              <a:rPr lang="en-US" dirty="0" smtClean="0"/>
              <a:t>coded document </a:t>
            </a:r>
            <a:r>
              <a:rPr lang="en-US" dirty="0"/>
              <a:t>that is rendered by the browser and then presented visually to you, the end-user. 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100" y="3485951"/>
            <a:ext cx="5151437" cy="33720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437" y="3485951"/>
            <a:ext cx="5135563" cy="33379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 Browser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Now that the search engine webpage is loaded in the browser, you interact with that page to search for what you want to find. 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For example, type restaurants near me in the search bar and press the search button.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4782" y="4097509"/>
            <a:ext cx="5226122" cy="27399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 Browser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Once again, the </a:t>
            </a:r>
            <a:r>
              <a:rPr lang="en-US" dirty="0" smtClean="0"/>
              <a:t>browser prepares </a:t>
            </a:r>
            <a:r>
              <a:rPr lang="en-US" dirty="0"/>
              <a:t>and sends a request to the </a:t>
            </a:r>
            <a:r>
              <a:rPr lang="en-US" dirty="0" smtClean="0"/>
              <a:t>same search </a:t>
            </a:r>
            <a:r>
              <a:rPr lang="en-US" dirty="0"/>
              <a:t>engine web server.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This </a:t>
            </a:r>
            <a:r>
              <a:rPr lang="en-US" dirty="0"/>
              <a:t>time, the request contains the added </a:t>
            </a:r>
            <a:r>
              <a:rPr lang="en-US" dirty="0" smtClean="0"/>
              <a:t>instructions to </a:t>
            </a:r>
            <a:r>
              <a:rPr lang="en-US" dirty="0"/>
              <a:t>search for the phrase </a:t>
            </a:r>
            <a:r>
              <a:rPr lang="en-US" dirty="0" smtClean="0"/>
              <a:t>“restaurants </a:t>
            </a:r>
            <a:r>
              <a:rPr lang="en-US" dirty="0"/>
              <a:t>near </a:t>
            </a:r>
            <a:r>
              <a:rPr lang="en-US" dirty="0" smtClean="0"/>
              <a:t>me”. 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8750" y="4297553"/>
            <a:ext cx="5442449" cy="25080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 Browser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The search engine web server processes the request by taking the keyword and using it to find the requested data.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This </a:t>
            </a:r>
            <a:r>
              <a:rPr lang="en-US" dirty="0"/>
              <a:t>data is stored in something called a </a:t>
            </a:r>
            <a:r>
              <a:rPr lang="en-US" b="1" dirty="0"/>
              <a:t>database</a:t>
            </a:r>
            <a:r>
              <a:rPr lang="en-US" dirty="0"/>
              <a:t>, which is connected to the web server.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3344" y="4880224"/>
            <a:ext cx="6937560" cy="19469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 Browser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The web server then picks up that data and sends </a:t>
            </a:r>
            <a:r>
              <a:rPr lang="en-US" dirty="0" smtClean="0"/>
              <a:t>it back </a:t>
            </a:r>
            <a:r>
              <a:rPr lang="en-US" dirty="0"/>
              <a:t>to the browser. </a:t>
            </a: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2285" y="4947810"/>
            <a:ext cx="6816333" cy="18690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 Browser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When the web browser receives the full response from the web server, it again renders a visible webpage with links to some restaurants, a map showing near </a:t>
            </a:r>
            <a:br>
              <a:rPr lang="en-US" dirty="0" smtClean="0"/>
            </a:br>
            <a:r>
              <a:rPr lang="en-US" dirty="0" smtClean="0"/>
              <a:t>by locations </a:t>
            </a:r>
            <a:r>
              <a:rPr lang="en-US" dirty="0"/>
              <a:t>and more related </a:t>
            </a:r>
            <a:br>
              <a:rPr lang="en-US" dirty="0" smtClean="0"/>
            </a:br>
            <a:r>
              <a:rPr lang="en-US" dirty="0" smtClean="0"/>
              <a:t>information </a:t>
            </a:r>
            <a:r>
              <a:rPr lang="en-US" dirty="0"/>
              <a:t>such as reviews, </a:t>
            </a:r>
            <a:br>
              <a:rPr lang="en-US" dirty="0" smtClean="0"/>
            </a:br>
            <a:r>
              <a:rPr lang="en-US" dirty="0" smtClean="0"/>
              <a:t>lists</a:t>
            </a:r>
            <a:r>
              <a:rPr lang="en-US" dirty="0"/>
              <a:t>, and even reservations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9065" y="3369924"/>
            <a:ext cx="5812113" cy="34572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 Browser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Success</a:t>
            </a:r>
            <a:r>
              <a:rPr lang="en-US" dirty="0" smtClean="0"/>
              <a:t>! This </a:t>
            </a:r>
            <a:r>
              <a:rPr lang="en-US" dirty="0"/>
              <a:t>all made possible by computers </a:t>
            </a:r>
            <a:r>
              <a:rPr lang="en-US" dirty="0" smtClean="0"/>
              <a:t>having a </a:t>
            </a:r>
            <a:r>
              <a:rPr lang="en-US" dirty="0"/>
              <a:t>conversation. 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9065" y="3369924"/>
            <a:ext cx="5812113" cy="34572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You </a:t>
            </a:r>
            <a:r>
              <a:rPr lang="en-US" dirty="0"/>
              <a:t>now learned how </a:t>
            </a:r>
            <a:r>
              <a:rPr lang="en-US" dirty="0" smtClean="0"/>
              <a:t>the request </a:t>
            </a:r>
            <a:r>
              <a:rPr lang="en-US" dirty="0"/>
              <a:t>response cycle works.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This </a:t>
            </a:r>
            <a:r>
              <a:rPr lang="en-US" dirty="0"/>
              <a:t>web requests </a:t>
            </a:r>
            <a:r>
              <a:rPr lang="en-US" dirty="0" smtClean="0"/>
              <a:t>cycle is </a:t>
            </a:r>
            <a:r>
              <a:rPr lang="en-US" dirty="0"/>
              <a:t>very similar for a number of </a:t>
            </a:r>
            <a:r>
              <a:rPr lang="en-US" dirty="0" smtClean="0"/>
              <a:t>other activities </a:t>
            </a:r>
            <a:r>
              <a:rPr lang="en-US" dirty="0"/>
              <a:t>we do online, via chatting with friends, watching our favorite movie, or sharing files </a:t>
            </a:r>
            <a:r>
              <a:rPr lang="en-US" dirty="0" smtClean="0"/>
              <a:t>with our </a:t>
            </a:r>
            <a:r>
              <a:rPr lang="en-US" dirty="0"/>
              <a:t>work colleagues.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kern="1800" spc="-10" dirty="0">
                <a:solidFill>
                  <a:srgbClr val="1F1F1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Additional </a:t>
            </a:r>
            <a:r>
              <a:rPr lang="en-US" kern="1800" spc="-10" dirty="0" smtClean="0">
                <a:solidFill>
                  <a:srgbClr val="1F1F1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6552"/>
            <a:ext cx="10515600" cy="5118537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07000"/>
              </a:lnSpc>
              <a:spcAft>
                <a:spcPts val="1200"/>
              </a:spcAft>
              <a:buNone/>
            </a:pPr>
            <a:r>
              <a:rPr lang="en-US" dirty="0" smtClean="0"/>
              <a:t>L</a:t>
            </a: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earn more</a:t>
            </a:r>
            <a:r>
              <a:rPr lang="en-US" dirty="0" smtClean="0">
                <a:solidFill>
                  <a:srgbClr val="1F1F1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Here is a list of resources that may be helpful as you continue your learning journey.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What is a Web Server? (NGINX)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dirty="0" smtClean="0">
                <a:solidFill>
                  <a:srgbClr val="0056D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https://www.nginx.com/resources/glossary/web-server/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What is a Web Browser? (Mozilla)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dirty="0" smtClean="0">
                <a:solidFill>
                  <a:srgbClr val="0056D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https://www.mozilla.org/en-US/firefox/browsers/what-is-a-browser/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Who invented the Internet? And why? (</a:t>
            </a:r>
            <a:r>
              <a:rPr lang="en-US" b="1" dirty="0" err="1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Kurzgesagt</a:t>
            </a: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dirty="0" smtClean="0">
                <a:solidFill>
                  <a:srgbClr val="0056D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https://youtu.be/21eFwbb48sE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What is Cloud Computing? (Amazon)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dirty="0" smtClean="0">
                <a:solidFill>
                  <a:srgbClr val="0056D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https://youtu.be/mxT233EdY5c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Browser Engines (Wikipedia)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dirty="0" smtClean="0">
                <a:solidFill>
                  <a:srgbClr val="0056D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https://en.wikipedia.org/wiki/Browser_engine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0500" y="2679699"/>
            <a:ext cx="9144000" cy="1122363"/>
          </a:xfrm>
        </p:spPr>
        <p:txBody>
          <a:bodyPr/>
          <a:lstStyle/>
          <a:p>
            <a:r>
              <a:rPr lang="en-US" b="1" dirty="0" smtClean="0">
                <a:latin typeface="Book Antiqua" panose="02040602050305030304" pitchFamily="18" charset="0"/>
              </a:rPr>
              <a:t>Thank You</a:t>
            </a:r>
            <a:endParaRPr lang="en-US" b="1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3256</Words>
  <Application>WPS Presentation</Application>
  <PresentationFormat>Widescreen</PresentationFormat>
  <Paragraphs>98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Arial</vt:lpstr>
      <vt:lpstr>SimSun</vt:lpstr>
      <vt:lpstr>Wingdings</vt:lpstr>
      <vt:lpstr>Times New Roman</vt:lpstr>
      <vt:lpstr>unset</vt:lpstr>
      <vt:lpstr>Segoe Print</vt:lpstr>
      <vt:lpstr>Calibri</vt:lpstr>
      <vt:lpstr>Book Antiqua</vt:lpstr>
      <vt:lpstr>Calibri Light</vt:lpstr>
      <vt:lpstr>Microsoft YaHei</vt:lpstr>
      <vt:lpstr>Arial Unicode MS</vt:lpstr>
      <vt:lpstr>Office Theme</vt:lpstr>
      <vt:lpstr>Web Browser</vt:lpstr>
      <vt:lpstr>Web Browser</vt:lpstr>
      <vt:lpstr>HTTP</vt:lpstr>
      <vt:lpstr>HTTP (Request-Response cycle)</vt:lpstr>
      <vt:lpstr>Web Browser</vt:lpstr>
      <vt:lpstr>Web Browser</vt:lpstr>
      <vt:lpstr>Web Browser</vt:lpstr>
      <vt:lpstr>Web Browser</vt:lpstr>
      <vt:lpstr>Web Browser</vt:lpstr>
      <vt:lpstr>Web Browser</vt:lpstr>
      <vt:lpstr>Web Browser</vt:lpstr>
      <vt:lpstr>Web Browser</vt:lpstr>
      <vt:lpstr>Web Browser</vt:lpstr>
      <vt:lpstr>Web Browser</vt:lpstr>
      <vt:lpstr>Web Browser</vt:lpstr>
      <vt:lpstr>Web Browser</vt:lpstr>
      <vt:lpstr>Summary</vt:lpstr>
      <vt:lpstr>Additional Resources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Habib</dc:creator>
  <cp:lastModifiedBy>Shahzeb Iqbal</cp:lastModifiedBy>
  <cp:revision>53</cp:revision>
  <dcterms:created xsi:type="dcterms:W3CDTF">2023-01-28T07:00:00Z</dcterms:created>
  <dcterms:modified xsi:type="dcterms:W3CDTF">2026-09-16T03:16:27Z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4F6BF5D67BCB4FA0A694180D3D6AFD62_12</vt:lpwstr>
  </property>
  <property fmtid="{D5CDD505-2E9C-101B-9397-08002B2CF9AE}" pid="3" name="KSOProductBuildVer">
    <vt:lpwstr>1033-12.1.0.28485</vt:lpwstr>
  </property>
</Properties>
</file>