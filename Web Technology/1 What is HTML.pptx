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302" r:id="rId5"/>
    <p:sldId id="303" r:id="rId6"/>
    <p:sldId id="304" r:id="rId7"/>
    <p:sldId id="306" r:id="rId8"/>
    <p:sldId id="305" r:id="rId9"/>
    <p:sldId id="307" r:id="rId10"/>
    <p:sldId id="310" r:id="rId11"/>
    <p:sldId id="308" r:id="rId12"/>
    <p:sldId id="309" r:id="rId13"/>
    <p:sldId id="311" r:id="rId14"/>
    <p:sldId id="313" r:id="rId15"/>
    <p:sldId id="312" r:id="rId16"/>
    <p:sldId id="314" r:id="rId17"/>
    <p:sldId id="315" r:id="rId18"/>
    <p:sldId id="316" r:id="rId19"/>
    <p:sldId id="318" r:id="rId20"/>
    <p:sldId id="319" r:id="rId21"/>
    <p:sldId id="321" r:id="rId22"/>
    <p:sldId id="322" r:id="rId23"/>
    <p:sldId id="320" r:id="rId24"/>
    <p:sldId id="296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B1BB4-8323-4737-9B44-39FC44F75F3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F16DC-BA81-4DE2-A9E6-A3BD735063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w3.org/TR/wai-aria-practices-1.2/" TargetMode="External"/><Relationship Id="rId4" Type="http://schemas.openxmlformats.org/officeDocument/2006/relationships/hyperlink" Target="https://w3c.github.io/html-aria/" TargetMode="External"/><Relationship Id="rId3" Type="http://schemas.openxmlformats.org/officeDocument/2006/relationships/hyperlink" Target="https://www.w3.org/TR/WD-DOM/introduction.html" TargetMode="External"/><Relationship Id="rId2" Type="http://schemas.openxmlformats.org/officeDocument/2006/relationships/hyperlink" Target="https://developer.mozilla.org/en-US/docs/Web/HTML/Element/form" TargetMode="External"/><Relationship Id="rId1" Type="http://schemas.openxmlformats.org/officeDocument/2006/relationships/hyperlink" Target="https://developer.mozilla.org/en-US/docs/Web/HTML/Element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What is HTML?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74" y="2901967"/>
            <a:ext cx="2379430" cy="2379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HTML?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When a team of builders </a:t>
            </a:r>
            <a:r>
              <a:rPr lang="en-US" dirty="0" smtClean="0"/>
              <a:t>begin constructing </a:t>
            </a:r>
            <a:r>
              <a:rPr lang="en-US" dirty="0"/>
              <a:t>a building.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One </a:t>
            </a:r>
            <a:r>
              <a:rPr lang="en-US" dirty="0"/>
              <a:t>of their key tasks </a:t>
            </a:r>
            <a:r>
              <a:rPr lang="en-US" dirty="0" smtClean="0"/>
              <a:t>is to </a:t>
            </a:r>
            <a:r>
              <a:rPr lang="en-US" dirty="0"/>
              <a:t>assemble the frame.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doesn't matter </a:t>
            </a:r>
            <a:r>
              <a:rPr lang="en-US" dirty="0" smtClean="0"/>
              <a:t>what kind </a:t>
            </a:r>
            <a:r>
              <a:rPr lang="en-US" dirty="0"/>
              <a:t>of building it is, it always starts with </a:t>
            </a:r>
            <a:r>
              <a:rPr lang="en-US" dirty="0" smtClean="0"/>
              <a:t>a frame </a:t>
            </a:r>
            <a:r>
              <a:rPr lang="en-US" dirty="0"/>
              <a:t>of beams and rafters.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Once </a:t>
            </a:r>
            <a:r>
              <a:rPr lang="en-US" dirty="0"/>
              <a:t>in place, the frame guides the rest </a:t>
            </a:r>
            <a:r>
              <a:rPr lang="en-US" dirty="0" smtClean="0"/>
              <a:t>of the </a:t>
            </a:r>
            <a:r>
              <a:rPr lang="en-US" dirty="0"/>
              <a:t>construction.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268" y="5393957"/>
            <a:ext cx="5667910" cy="14332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370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you compare abuilding with a web </a:t>
            </a:r>
            <a:r>
              <a:rPr lang="en-US" dirty="0" smtClean="0"/>
              <a:t>page, </a:t>
            </a:r>
            <a:r>
              <a:rPr lang="en-US" dirty="0"/>
              <a:t>an HTML document is </a:t>
            </a:r>
            <a:r>
              <a:rPr lang="en-US" dirty="0" smtClean="0"/>
              <a:t>a lot </a:t>
            </a:r>
            <a:r>
              <a:rPr lang="en-US" dirty="0"/>
              <a:t>like the frame.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It's </a:t>
            </a:r>
            <a:r>
              <a:rPr lang="en-US" dirty="0"/>
              <a:t>a basic </a:t>
            </a:r>
            <a:r>
              <a:rPr lang="en-US" dirty="0" smtClean="0"/>
              <a:t>structure assembled </a:t>
            </a:r>
            <a:r>
              <a:rPr lang="en-US" dirty="0"/>
              <a:t>with different components </a:t>
            </a:r>
            <a:r>
              <a:rPr lang="en-US" dirty="0" smtClean="0"/>
              <a:t>such as </a:t>
            </a:r>
            <a:r>
              <a:rPr lang="en-US" dirty="0"/>
              <a:t>tags and elements.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0265" y="4557218"/>
            <a:ext cx="5001748" cy="2258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this </a:t>
            </a:r>
            <a:r>
              <a:rPr lang="en-US" dirty="0" smtClean="0"/>
              <a:t>lecture, you will </a:t>
            </a:r>
            <a:r>
              <a:rPr lang="en-US" dirty="0"/>
              <a:t>learn about HTML documents </a:t>
            </a:r>
            <a:r>
              <a:rPr lang="en-US" dirty="0" smtClean="0"/>
              <a:t>and the </a:t>
            </a:r>
            <a:r>
              <a:rPr lang="en-US" dirty="0"/>
              <a:t>difference between HTML tags and elements.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begin, let me tell you a short story </a:t>
            </a:r>
            <a:r>
              <a:rPr lang="en-US" dirty="0" smtClean="0"/>
              <a:t>about where </a:t>
            </a:r>
            <a:r>
              <a:rPr lang="en-US" dirty="0"/>
              <a:t>it all started.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Sir </a:t>
            </a:r>
            <a:r>
              <a:rPr lang="en-US" dirty="0"/>
              <a:t>Tim Berners-Lee</a:t>
            </a:r>
            <a:r>
              <a:rPr lang="en-US" dirty="0" smtClean="0"/>
              <a:t>, a </a:t>
            </a:r>
            <a:r>
              <a:rPr lang="en-US" dirty="0"/>
              <a:t>physicist, often thought about </a:t>
            </a:r>
            <a:r>
              <a:rPr lang="en-US" dirty="0" smtClean="0"/>
              <a:t>how he </a:t>
            </a:r>
            <a:r>
              <a:rPr lang="en-US" dirty="0"/>
              <a:t>and his colleagues from around the </a:t>
            </a:r>
            <a:r>
              <a:rPr lang="en-US" dirty="0" smtClean="0"/>
              <a:t>world would </a:t>
            </a:r>
            <a:r>
              <a:rPr lang="en-US" dirty="0"/>
              <a:t>share information.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495" y="3952214"/>
            <a:ext cx="3772702" cy="22247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10" y="3952214"/>
            <a:ext cx="3673422" cy="2224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He </a:t>
            </a:r>
            <a:r>
              <a:rPr lang="en-US" dirty="0"/>
              <a:t>was so used </a:t>
            </a:r>
            <a:r>
              <a:rPr lang="en-US" dirty="0" smtClean="0"/>
              <a:t>to browsing </a:t>
            </a:r>
            <a:r>
              <a:rPr lang="en-US" dirty="0"/>
              <a:t>information online that it might seem </a:t>
            </a:r>
            <a:r>
              <a:rPr lang="en-US" dirty="0" smtClean="0"/>
              <a:t>a silly </a:t>
            </a:r>
            <a:r>
              <a:rPr lang="en-US" dirty="0"/>
              <a:t>thing to ponder about.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Actually</a:t>
            </a:r>
            <a:r>
              <a:rPr lang="en-US" dirty="0"/>
              <a:t>, that </a:t>
            </a:r>
            <a:r>
              <a:rPr lang="en-US" dirty="0" smtClean="0"/>
              <a:t>question was </a:t>
            </a:r>
            <a:r>
              <a:rPr lang="en-US" dirty="0"/>
              <a:t>very relevant at the time and started </a:t>
            </a:r>
            <a:r>
              <a:rPr lang="en-US" dirty="0" smtClean="0"/>
              <a:t>the development </a:t>
            </a:r>
            <a:r>
              <a:rPr lang="en-US" dirty="0"/>
              <a:t>of HTML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683" y="4259717"/>
            <a:ext cx="4605978" cy="2535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539" y="3770410"/>
            <a:ext cx="4990401" cy="30670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Would </a:t>
            </a:r>
            <a:r>
              <a:rPr lang="en-US" dirty="0"/>
              <a:t>you like to </a:t>
            </a:r>
            <a:r>
              <a:rPr lang="en-US" dirty="0" smtClean="0"/>
              <a:t>explore the </a:t>
            </a:r>
            <a:r>
              <a:rPr lang="en-US" dirty="0"/>
              <a:t>very first web page?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first web </a:t>
            </a:r>
            <a:r>
              <a:rPr lang="en-US" dirty="0" smtClean="0"/>
              <a:t>page was </a:t>
            </a:r>
            <a:r>
              <a:rPr lang="en-US" dirty="0"/>
              <a:t>created in 1999 by Sir Tim </a:t>
            </a:r>
            <a:r>
              <a:rPr lang="en-US" dirty="0" smtClean="0"/>
              <a:t>Berners-Lee.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He worked at the </a:t>
            </a:r>
            <a:r>
              <a:rPr lang="en-US" dirty="0" smtClean="0"/>
              <a:t>European Organization </a:t>
            </a:r>
            <a:r>
              <a:rPr lang="en-US" dirty="0"/>
              <a:t>for Nuclear Research or CERN, and originally proposed HTML.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first version of HTML was released in </a:t>
            </a:r>
            <a:r>
              <a:rPr lang="en-US" dirty="0" smtClean="0"/>
              <a:t>1991 </a:t>
            </a:r>
            <a:r>
              <a:rPr lang="en-US" dirty="0"/>
              <a:t>along with the first web browser and </a:t>
            </a:r>
            <a:r>
              <a:rPr lang="en-US" dirty="0" smtClean="0"/>
              <a:t>web </a:t>
            </a:r>
            <a:r>
              <a:rPr lang="en-US" dirty="0"/>
              <a:t>server.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2416" y="4346682"/>
            <a:ext cx="7139843" cy="2455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2759" y="5254487"/>
            <a:ext cx="3436544" cy="15809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HTML stands for </a:t>
            </a:r>
            <a:r>
              <a:rPr lang="en-US" dirty="0" smtClean="0"/>
              <a:t>Hypertext Markup </a:t>
            </a:r>
            <a:r>
              <a:rPr lang="en-US" dirty="0"/>
              <a:t>Language. </a:t>
            </a:r>
            <a:r>
              <a:rPr lang="en-US" dirty="0" smtClean="0"/>
              <a:t>But </a:t>
            </a:r>
            <a:r>
              <a:rPr lang="en-US" dirty="0"/>
              <a:t>what does that mean exactly?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Hypertext </a:t>
            </a:r>
            <a:r>
              <a:rPr lang="en-US" dirty="0"/>
              <a:t>is text </a:t>
            </a:r>
            <a:r>
              <a:rPr lang="en-US" dirty="0" smtClean="0"/>
              <a:t>which contains </a:t>
            </a:r>
            <a:r>
              <a:rPr lang="en-US" dirty="0"/>
              <a:t>links to other text.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Markup </a:t>
            </a:r>
            <a:r>
              <a:rPr lang="en-US" dirty="0"/>
              <a:t>refers to tags and elements used within a document.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now, let's just focus </a:t>
            </a:r>
            <a:r>
              <a:rPr lang="en-US" dirty="0" smtClean="0"/>
              <a:t>on some </a:t>
            </a:r>
            <a:r>
              <a:rPr lang="en-US" dirty="0"/>
              <a:t>of the basics of HTML.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HTML is simply a text file with a specific structure </a:t>
            </a:r>
            <a:r>
              <a:rPr lang="en-US" dirty="0" smtClean="0"/>
              <a:t>that consists </a:t>
            </a:r>
            <a:r>
              <a:rPr lang="en-US" dirty="0"/>
              <a:t>of elements and tags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Also take note that HTML files usually have a dot HTML suffix.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instance, </a:t>
            </a:r>
            <a:r>
              <a:rPr lang="en-US" dirty="0" smtClean="0"/>
              <a:t>when you </a:t>
            </a:r>
            <a:r>
              <a:rPr lang="en-US" dirty="0"/>
              <a:t>visit a website, the first page that </a:t>
            </a:r>
            <a:r>
              <a:rPr lang="en-US" dirty="0" smtClean="0"/>
              <a:t>is returned </a:t>
            </a:r>
            <a:r>
              <a:rPr lang="en-US" dirty="0"/>
              <a:t>to the browser is often called index.html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Now, let's explore </a:t>
            </a:r>
            <a:r>
              <a:rPr lang="en-US" dirty="0" smtClean="0"/>
              <a:t>what HTML </a:t>
            </a:r>
            <a:r>
              <a:rPr lang="en-US" dirty="0"/>
              <a:t>tags and elements are.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6727" y="2590422"/>
            <a:ext cx="1454146" cy="15740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242" y="4610820"/>
            <a:ext cx="3211025" cy="219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Each HTML element consists of an opening tag </a:t>
            </a:r>
            <a:r>
              <a:rPr lang="en-US" dirty="0" smtClean="0"/>
              <a:t>enclosed in </a:t>
            </a:r>
            <a:r>
              <a:rPr lang="en-US" dirty="0"/>
              <a:t>angle brackets.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smtClean="0"/>
              <a:t>to create </a:t>
            </a:r>
            <a:r>
              <a:rPr lang="en-US" dirty="0"/>
              <a:t>a paragraph, you type &lt;p&gt; for paragraph.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Most </a:t>
            </a:r>
            <a:r>
              <a:rPr lang="en-US" dirty="0"/>
              <a:t>elements are </a:t>
            </a:r>
            <a:r>
              <a:rPr lang="en-US" dirty="0" smtClean="0"/>
              <a:t>paired with </a:t>
            </a:r>
            <a:r>
              <a:rPr lang="en-US" dirty="0"/>
              <a:t>a closing tag, which has a forward slash </a:t>
            </a:r>
            <a:r>
              <a:rPr lang="en-US" dirty="0" smtClean="0"/>
              <a:t>off to </a:t>
            </a:r>
            <a:r>
              <a:rPr lang="en-US" dirty="0"/>
              <a:t>the left angle bracket. For example, you close </a:t>
            </a:r>
            <a:r>
              <a:rPr lang="en-US" dirty="0" smtClean="0"/>
              <a:t>the paragraph </a:t>
            </a:r>
            <a:r>
              <a:rPr lang="en-US" dirty="0"/>
              <a:t>element with &lt;/p&gt;.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605" y="5260107"/>
            <a:ext cx="1914043" cy="1567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567" y="5260107"/>
            <a:ext cx="1667152" cy="1567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HTML elements usually </a:t>
            </a:r>
            <a:r>
              <a:rPr lang="en-US" dirty="0" smtClean="0"/>
              <a:t>have some </a:t>
            </a:r>
            <a:r>
              <a:rPr lang="en-US" dirty="0"/>
              <a:t>content inside them.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between the opening and closing tags of a paragraph, you add the text of </a:t>
            </a:r>
            <a:r>
              <a:rPr lang="en-US" dirty="0" smtClean="0"/>
              <a:t>the paragraph </a:t>
            </a:r>
            <a:br>
              <a:rPr lang="en-US" dirty="0" smtClean="0"/>
            </a:br>
            <a:r>
              <a:rPr lang="en-US" dirty="0" smtClean="0"/>
              <a:t>you </a:t>
            </a:r>
            <a:r>
              <a:rPr lang="en-US" dirty="0"/>
              <a:t>want to write.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400" y="3392156"/>
            <a:ext cx="5383212" cy="34007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3623100"/>
            <a:ext cx="5054600" cy="3196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HTML </a:t>
            </a:r>
            <a:r>
              <a:rPr lang="en-US" dirty="0"/>
              <a:t>elements can </a:t>
            </a:r>
            <a:r>
              <a:rPr lang="en-US" dirty="0" smtClean="0"/>
              <a:t>also contain </a:t>
            </a:r>
            <a:r>
              <a:rPr lang="en-US" dirty="0"/>
              <a:t>other elements.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you </a:t>
            </a:r>
            <a:r>
              <a:rPr lang="en-US" dirty="0" smtClean="0"/>
              <a:t>can add </a:t>
            </a:r>
            <a:r>
              <a:rPr lang="en-US" dirty="0"/>
              <a:t>an italics element inside a paragraph element to make texts appear in italics.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elements can also </a:t>
            </a:r>
            <a:r>
              <a:rPr lang="en-US" dirty="0" smtClean="0"/>
              <a:t>be empty </a:t>
            </a:r>
            <a:r>
              <a:rPr lang="en-US" dirty="0"/>
              <a:t>or self-closing, meaning they do not </a:t>
            </a:r>
            <a:r>
              <a:rPr lang="en-US" dirty="0" smtClean="0"/>
              <a:t>have a </a:t>
            </a:r>
            <a:r>
              <a:rPr lang="en-US" dirty="0"/>
              <a:t>closing HTML tag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One example of </a:t>
            </a:r>
            <a:r>
              <a:rPr lang="en-US" dirty="0" smtClean="0"/>
              <a:t>a self-closing </a:t>
            </a:r>
            <a:r>
              <a:rPr lang="en-US" dirty="0"/>
              <a:t>element is the line break tag.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can add a line </a:t>
            </a:r>
            <a:r>
              <a:rPr lang="en-US" dirty="0" smtClean="0"/>
              <a:t>break tag </a:t>
            </a:r>
            <a:r>
              <a:rPr lang="en-US" dirty="0"/>
              <a:t>in a paragraph tag to move content to the </a:t>
            </a:r>
            <a:r>
              <a:rPr lang="en-US" dirty="0" smtClean="0"/>
              <a:t>following line </a:t>
            </a:r>
            <a:r>
              <a:rPr lang="en-US" dirty="0"/>
              <a:t>by typing &lt;</a:t>
            </a:r>
            <a:r>
              <a:rPr lang="en-US" dirty="0" err="1"/>
              <a:t>br</a:t>
            </a:r>
            <a:r>
              <a:rPr lang="en-US" dirty="0"/>
              <a:t>&gt;.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</a:t>
            </a:r>
            <a:r>
              <a:rPr lang="en-US" b="1" dirty="0" smtClean="0"/>
              <a:t>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93879"/>
            <a:ext cx="4970792" cy="3681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19910"/>
            <a:ext cx="5098174" cy="3359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At the end of </a:t>
            </a:r>
            <a:r>
              <a:rPr lang="en-US" dirty="0" smtClean="0"/>
              <a:t>a self-closing </a:t>
            </a:r>
            <a:r>
              <a:rPr lang="en-US" dirty="0"/>
              <a:t>tag, you simply add </a:t>
            </a:r>
            <a:r>
              <a:rPr lang="en-US" dirty="0" smtClean="0"/>
              <a:t>a right </a:t>
            </a:r>
            <a:r>
              <a:rPr lang="en-US" dirty="0"/>
              <a:t>angle bracket.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can also close </a:t>
            </a:r>
            <a:r>
              <a:rPr lang="en-US" dirty="0" smtClean="0"/>
              <a:t>the right </a:t>
            </a:r>
            <a:r>
              <a:rPr lang="en-US" dirty="0"/>
              <a:t>angle bracket by typing a </a:t>
            </a:r>
            <a:r>
              <a:rPr lang="en-US" dirty="0" smtClean="0"/>
              <a:t>forward slash </a:t>
            </a:r>
            <a:r>
              <a:rPr lang="en-US" dirty="0"/>
              <a:t>right before it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Now that you know </a:t>
            </a:r>
            <a:r>
              <a:rPr lang="en-US" dirty="0" smtClean="0"/>
              <a:t>what elements 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tags are, you will explore </a:t>
            </a:r>
            <a:br>
              <a:rPr lang="en-US" dirty="0" smtClean="0"/>
            </a:br>
            <a:r>
              <a:rPr lang="en-US" dirty="0" smtClean="0"/>
              <a:t>what HTML </a:t>
            </a:r>
            <a:r>
              <a:rPr lang="en-US" dirty="0"/>
              <a:t>standards are.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29" y="3421294"/>
            <a:ext cx="5416776" cy="34058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rules and </a:t>
            </a:r>
            <a:r>
              <a:rPr lang="en-US" dirty="0" smtClean="0"/>
              <a:t>structure for </a:t>
            </a:r>
            <a:r>
              <a:rPr lang="en-US" dirty="0"/>
              <a:t>elements and tags are known as </a:t>
            </a:r>
            <a:r>
              <a:rPr lang="en-US" dirty="0" smtClean="0"/>
              <a:t>the HTML </a:t>
            </a:r>
            <a:r>
              <a:rPr lang="en-US" dirty="0"/>
              <a:t>specification.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HTML specification is maintained by the </a:t>
            </a:r>
            <a:r>
              <a:rPr lang="en-US" dirty="0" smtClean="0"/>
              <a:t>World Wide </a:t>
            </a:r>
            <a:r>
              <a:rPr lang="en-US" dirty="0"/>
              <a:t>Web Consortium, or W3C as it is commonly known.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9890" y="4130211"/>
            <a:ext cx="3133574" cy="26851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2930" y="5156605"/>
            <a:ext cx="1544386" cy="1660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Whenever </a:t>
            </a:r>
            <a:r>
              <a:rPr lang="en-US" dirty="0"/>
              <a:t>the </a:t>
            </a:r>
            <a:r>
              <a:rPr lang="en-US" dirty="0" smtClean="0"/>
              <a:t>HTML specification </a:t>
            </a:r>
            <a:r>
              <a:rPr lang="en-US" dirty="0"/>
              <a:t>changes a new version of </a:t>
            </a:r>
            <a:r>
              <a:rPr lang="en-US" dirty="0" smtClean="0"/>
              <a:t>HTML is </a:t>
            </a:r>
            <a:r>
              <a:rPr lang="en-US" dirty="0"/>
              <a:t>standardized, the current version is </a:t>
            </a:r>
            <a:r>
              <a:rPr lang="en-US" dirty="0" smtClean="0"/>
              <a:t>HTML 5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To summarize, HTML elements with their opening and closing tags in angle brackets buildup an HTML document.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These elements form the structure of a web page and describe to the web browser what to display.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the browser reads an HTML page that has an image tags display an image file called icon.png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Next, it reads a p tag to display a </a:t>
            </a:r>
            <a:r>
              <a:rPr lang="en-US" dirty="0" smtClean="0"/>
              <a:t>paragraph under </a:t>
            </a:r>
            <a:r>
              <a:rPr lang="en-US" dirty="0"/>
              <a:t>that image.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1581" y="3940741"/>
            <a:ext cx="6391167" cy="28747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But the browser reads the HTML document and displays the web page to the user in a very basic format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Now</a:t>
            </a:r>
            <a:r>
              <a:rPr lang="en-US" dirty="0"/>
              <a:t>, if you want to tell the browser how </a:t>
            </a:r>
            <a:r>
              <a:rPr lang="en-US" dirty="0" smtClean="0"/>
              <a:t>to display </a:t>
            </a:r>
            <a:r>
              <a:rPr lang="en-US" dirty="0"/>
              <a:t>the web page, you should use CSS.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will learn more </a:t>
            </a:r>
            <a:r>
              <a:rPr lang="en-US" dirty="0" smtClean="0"/>
              <a:t>about CSS </a:t>
            </a:r>
            <a:r>
              <a:rPr lang="en-US" dirty="0"/>
              <a:t>in this course.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By now, you have </a:t>
            </a:r>
            <a:r>
              <a:rPr lang="en-US" dirty="0" smtClean="0"/>
              <a:t>learned how </a:t>
            </a:r>
            <a:r>
              <a:rPr lang="en-US" dirty="0"/>
              <a:t>HTML tags are used to create elements that build the </a:t>
            </a:r>
            <a:r>
              <a:rPr lang="en-US" dirty="0" smtClean="0"/>
              <a:t>structure of </a:t>
            </a:r>
            <a:r>
              <a:rPr lang="en-US" dirty="0"/>
              <a:t>a web page. 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You'll </a:t>
            </a:r>
            <a:r>
              <a:rPr lang="en-US" dirty="0"/>
              <a:t>have </a:t>
            </a:r>
            <a:r>
              <a:rPr lang="en-US" dirty="0" smtClean="0"/>
              <a:t>an opportunity </a:t>
            </a:r>
            <a:r>
              <a:rPr lang="en-US" dirty="0"/>
              <a:t>to explore HTML </a:t>
            </a:r>
            <a:r>
              <a:rPr lang="en-US" dirty="0" smtClean="0"/>
              <a:t>in action </a:t>
            </a:r>
            <a:r>
              <a:rPr lang="en-US" dirty="0"/>
              <a:t>in this course.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HTML Elements Reference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https://developer.mozilla.org/en-US/docs/Web/HTML/Element</a:t>
            </a:r>
            <a:endParaRPr lang="en-US" dirty="0"/>
          </a:p>
          <a:p>
            <a:r>
              <a:rPr lang="en-US" b="1" dirty="0"/>
              <a:t>The Form Element (Mozilla)</a:t>
            </a:r>
            <a:endParaRPr lang="en-US" dirty="0"/>
          </a:p>
          <a:p>
            <a:r>
              <a:rPr lang="en-US" u="sng" dirty="0">
                <a:hlinkClick r:id="rId2"/>
              </a:rPr>
              <a:t>https://developer.mozilla.org/en-US/docs/Web/HTML/Element/form</a:t>
            </a:r>
            <a:endParaRPr lang="en-US" dirty="0"/>
          </a:p>
          <a:p>
            <a:r>
              <a:rPr lang="en-US" b="1" dirty="0"/>
              <a:t>What is the Document Object Model? (W3C)</a:t>
            </a:r>
            <a:endParaRPr lang="en-US" dirty="0"/>
          </a:p>
          <a:p>
            <a:r>
              <a:rPr lang="en-US" u="sng" dirty="0">
                <a:hlinkClick r:id="rId3"/>
              </a:rPr>
              <a:t>https://www.w3.org/TR/WD-DOM/introduction.html</a:t>
            </a:r>
            <a:endParaRPr lang="en-US" dirty="0"/>
          </a:p>
          <a:p>
            <a:r>
              <a:rPr lang="en-US" b="1" dirty="0"/>
              <a:t>ARIA in HTML (W3C via </a:t>
            </a:r>
            <a:r>
              <a:rPr lang="en-US" b="1" dirty="0" err="1"/>
              <a:t>Github</a:t>
            </a:r>
            <a:r>
              <a:rPr lang="en-US" b="1" dirty="0"/>
              <a:t>)</a:t>
            </a:r>
            <a:endParaRPr lang="en-US" dirty="0"/>
          </a:p>
          <a:p>
            <a:r>
              <a:rPr lang="en-US" u="sng" dirty="0">
                <a:hlinkClick r:id="rId4"/>
              </a:rPr>
              <a:t>https://w3c.github.io/html-aria/</a:t>
            </a:r>
            <a:endParaRPr lang="en-US" dirty="0"/>
          </a:p>
          <a:p>
            <a:r>
              <a:rPr lang="en-US" b="1" dirty="0"/>
              <a:t>ARIA Authoring Practices (W3C)</a:t>
            </a:r>
            <a:endParaRPr lang="en-US" dirty="0"/>
          </a:p>
          <a:p>
            <a:r>
              <a:rPr lang="en-US" u="sng" dirty="0">
                <a:hlinkClick r:id="rId5"/>
              </a:rPr>
              <a:t>https://www.w3.org/TR/wai-aria-practices-1.2/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4773</Words>
  <Application>WPS Presentation</Application>
  <PresentationFormat>Widescreen</PresentationFormat>
  <Paragraphs>129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Book Antiqua</vt:lpstr>
      <vt:lpstr>Office Theme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What is HTML?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HTML</dc:title>
  <dc:creator>Muhammad Habib</dc:creator>
  <cp:lastModifiedBy>Shahzeb Iqbal</cp:lastModifiedBy>
  <cp:revision>71</cp:revision>
  <dcterms:created xsi:type="dcterms:W3CDTF">2023-01-31T14:12:00Z</dcterms:created>
  <dcterms:modified xsi:type="dcterms:W3CDTF">2026-10-04T07:04:13Z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1C42467DEFD740DB8CB4B3B40C759CA3_12</vt:lpwstr>
  </property>
</Properties>
</file>