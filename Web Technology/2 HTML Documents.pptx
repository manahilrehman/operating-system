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302" r:id="rId5"/>
    <p:sldId id="303" r:id="rId6"/>
    <p:sldId id="290" r:id="rId7"/>
    <p:sldId id="304" r:id="rId8"/>
    <p:sldId id="305" r:id="rId9"/>
    <p:sldId id="306" r:id="rId10"/>
    <p:sldId id="307" r:id="rId11"/>
    <p:sldId id="308" r:id="rId12"/>
    <p:sldId id="310" r:id="rId13"/>
    <p:sldId id="309" r:id="rId14"/>
    <p:sldId id="312" r:id="rId15"/>
    <p:sldId id="311" r:id="rId16"/>
    <p:sldId id="313" r:id="rId17"/>
    <p:sldId id="314" r:id="rId18"/>
    <p:sldId id="315" r:id="rId19"/>
    <p:sldId id="318" r:id="rId20"/>
    <p:sldId id="316" r:id="rId21"/>
    <p:sldId id="317" r:id="rId22"/>
    <p:sldId id="321" r:id="rId23"/>
    <p:sldId id="319" r:id="rId24"/>
    <p:sldId id="320" r:id="rId25"/>
    <p:sldId id="296" r:id="rId26"/>
    <p:sldId id="3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B1BB4-8323-4737-9B44-39FC44F75F3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F16DC-BA81-4DE2-A9E6-A3BD735063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w3.org/TR/wai-aria-practices-1.2/" TargetMode="External"/><Relationship Id="rId4" Type="http://schemas.openxmlformats.org/officeDocument/2006/relationships/hyperlink" Target="https://w3c.github.io/html-aria/" TargetMode="External"/><Relationship Id="rId3" Type="http://schemas.openxmlformats.org/officeDocument/2006/relationships/hyperlink" Target="https://www.w3.org/TR/WD-DOM/introduction.html" TargetMode="External"/><Relationship Id="rId2" Type="http://schemas.openxmlformats.org/officeDocument/2006/relationships/hyperlink" Target="https://developer.mozilla.org/en-US/docs/Web/HTML/Element/form" TargetMode="External"/><Relationship Id="rId1" Type="http://schemas.openxmlformats.org/officeDocument/2006/relationships/hyperlink" Target="https://developer.mozilla.org/en-US/docs/Web/HTML/Element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HTML Documents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74" y="2901967"/>
            <a:ext cx="2379430" cy="2379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</a:t>
            </a:r>
            <a:r>
              <a:rPr lang="en-US" b="1" dirty="0"/>
              <a:t> </a:t>
            </a:r>
            <a:r>
              <a:rPr lang="en-US" b="1" dirty="0" smtClean="0"/>
              <a:t>Documents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this </a:t>
            </a:r>
            <a:r>
              <a:rPr lang="en-US" dirty="0" smtClean="0"/>
              <a:t>lecture, I will </a:t>
            </a:r>
            <a:r>
              <a:rPr lang="en-US" dirty="0"/>
              <a:t>guide you to the blueprints </a:t>
            </a:r>
            <a:r>
              <a:rPr lang="en-US" dirty="0" smtClean="0"/>
              <a:t>of a </a:t>
            </a:r>
            <a:r>
              <a:rPr lang="en-US" dirty="0"/>
              <a:t>HTML document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will create </a:t>
            </a:r>
            <a:r>
              <a:rPr lang="en-US" dirty="0" smtClean="0"/>
              <a:t>a very </a:t>
            </a:r>
            <a:r>
              <a:rPr lang="en-US" dirty="0"/>
              <a:t>simple webpage for a </a:t>
            </a:r>
            <a:r>
              <a:rPr lang="en-US" dirty="0" smtClean="0"/>
              <a:t>restaurant called “Little Lemon”.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great </a:t>
            </a:r>
            <a:r>
              <a:rPr lang="en-US" dirty="0" smtClean="0"/>
              <a:t>thing about </a:t>
            </a:r>
            <a:r>
              <a:rPr lang="en-US" dirty="0"/>
              <a:t>HTML documents is that you don't </a:t>
            </a:r>
            <a:r>
              <a:rPr lang="en-US" dirty="0" smtClean="0"/>
              <a:t>need the </a:t>
            </a:r>
            <a:r>
              <a:rPr lang="en-US" dirty="0"/>
              <a:t>web to view them.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114" y="4913053"/>
            <a:ext cx="6879886" cy="1944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</a:t>
            </a:r>
            <a:r>
              <a:rPr lang="en-US" b="1" dirty="0"/>
              <a:t> </a:t>
            </a:r>
            <a:r>
              <a:rPr lang="en-US" b="1" dirty="0" smtClean="0"/>
              <a:t>Documents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Yes</a:t>
            </a:r>
            <a:r>
              <a:rPr lang="en-US" dirty="0"/>
              <a:t>, they don't </a:t>
            </a:r>
            <a:r>
              <a:rPr lang="en-US" dirty="0" smtClean="0"/>
              <a:t>have to </a:t>
            </a:r>
            <a:r>
              <a:rPr lang="en-US" dirty="0"/>
              <a:t>be hosted on a web server for you to </a:t>
            </a:r>
            <a:r>
              <a:rPr lang="en-US" dirty="0" smtClean="0"/>
              <a:t>view them </a:t>
            </a:r>
            <a:r>
              <a:rPr lang="en-US" dirty="0"/>
              <a:t>in your web browser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You can save HTML files on your computer and viewed them locally with your web browser, almost like </a:t>
            </a:r>
            <a:r>
              <a:rPr lang="en-US" dirty="0" smtClean="0"/>
              <a:t>eating takeaways </a:t>
            </a:r>
            <a:r>
              <a:rPr lang="en-US" dirty="0"/>
              <a:t>at home.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By </a:t>
            </a:r>
            <a:r>
              <a:rPr lang="en-US" dirty="0"/>
              <a:t>the end of </a:t>
            </a:r>
            <a:r>
              <a:rPr lang="en-US" dirty="0" smtClean="0"/>
              <a:t>this lecture, </a:t>
            </a:r>
            <a:r>
              <a:rPr lang="en-US" dirty="0"/>
              <a:t>you'll be able to identify the structure of a HTML document </a:t>
            </a:r>
            <a:r>
              <a:rPr lang="en-US" dirty="0" smtClean="0"/>
              <a:t>and create </a:t>
            </a:r>
            <a:r>
              <a:rPr lang="en-US" dirty="0"/>
              <a:t>a basic </a:t>
            </a:r>
            <a:r>
              <a:rPr lang="en-US" dirty="0" smtClean="0"/>
              <a:t>webpage.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HTML Documents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Lets </a:t>
            </a:r>
            <a:r>
              <a:rPr lang="en-US" dirty="0"/>
              <a:t>create </a:t>
            </a:r>
            <a:r>
              <a:rPr lang="en-US" dirty="0" smtClean="0"/>
              <a:t>a very </a:t>
            </a:r>
            <a:r>
              <a:rPr lang="en-US" dirty="0"/>
              <a:t>simple webpage for a </a:t>
            </a:r>
            <a:r>
              <a:rPr lang="en-US" dirty="0" smtClean="0"/>
              <a:t>restaurant.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The great </a:t>
            </a:r>
            <a:r>
              <a:rPr lang="en-US" dirty="0" smtClean="0"/>
              <a:t>thing about </a:t>
            </a:r>
            <a:r>
              <a:rPr lang="en-US" dirty="0"/>
              <a:t>HTML documents is that you don't </a:t>
            </a:r>
            <a:r>
              <a:rPr lang="en-US" dirty="0" smtClean="0"/>
              <a:t>need the </a:t>
            </a:r>
            <a:r>
              <a:rPr lang="en-US" dirty="0"/>
              <a:t>web to view them.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Yes</a:t>
            </a:r>
            <a:r>
              <a:rPr lang="en-US" dirty="0"/>
              <a:t>, they don't </a:t>
            </a:r>
            <a:r>
              <a:rPr lang="en-US" dirty="0" smtClean="0"/>
              <a:t>have to </a:t>
            </a:r>
            <a:r>
              <a:rPr lang="en-US" dirty="0"/>
              <a:t>be hosted on a web server for you to </a:t>
            </a:r>
            <a:r>
              <a:rPr lang="en-US" dirty="0" smtClean="0"/>
              <a:t>view them </a:t>
            </a:r>
            <a:r>
              <a:rPr lang="en-US" dirty="0"/>
              <a:t>in your web browser.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can save HTML files on your computer and </a:t>
            </a:r>
            <a:r>
              <a:rPr lang="en-US" dirty="0" smtClean="0"/>
              <a:t>view </a:t>
            </a:r>
            <a:r>
              <a:rPr lang="en-US" dirty="0"/>
              <a:t>them locally with your web browser, almost like </a:t>
            </a:r>
            <a:r>
              <a:rPr lang="en-US" dirty="0" smtClean="0"/>
              <a:t>eating takeaways </a:t>
            </a:r>
            <a:r>
              <a:rPr lang="en-US" dirty="0"/>
              <a:t>at home.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File (index.html)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To create a HTML </a:t>
            </a:r>
            <a:r>
              <a:rPr lang="en-US" dirty="0" smtClean="0"/>
              <a:t>file and </a:t>
            </a:r>
            <a:r>
              <a:rPr lang="en-US" dirty="0"/>
              <a:t>Visual Studio Code.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Right-click </a:t>
            </a:r>
            <a:r>
              <a:rPr lang="en-US" dirty="0"/>
              <a:t>in the </a:t>
            </a:r>
            <a:r>
              <a:rPr lang="en-US" dirty="0" smtClean="0"/>
              <a:t>Explorer panel </a:t>
            </a:r>
            <a:r>
              <a:rPr lang="en-US" dirty="0"/>
              <a:t>and select New File.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I'll name it index.html.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9084" y="3647327"/>
            <a:ext cx="3568048" cy="31049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130" y="3647327"/>
            <a:ext cx="3595886" cy="310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DOCTYPE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By </a:t>
            </a:r>
            <a:r>
              <a:rPr lang="en-US" dirty="0"/>
              <a:t>now you </a:t>
            </a:r>
            <a:r>
              <a:rPr lang="en-US" dirty="0" smtClean="0"/>
              <a:t>know that </a:t>
            </a:r>
            <a:r>
              <a:rPr lang="en-US" dirty="0"/>
              <a:t>HTML documents are made up </a:t>
            </a:r>
            <a:r>
              <a:rPr lang="en-US" dirty="0" smtClean="0"/>
              <a:t>of elements </a:t>
            </a:r>
            <a:r>
              <a:rPr lang="en-US" dirty="0"/>
              <a:t>and tags</a:t>
            </a:r>
            <a:r>
              <a:rPr lang="en-US" dirty="0" smtClean="0"/>
              <a:t>. But </a:t>
            </a:r>
            <a:r>
              <a:rPr lang="en-US" dirty="0"/>
              <a:t>before I can </a:t>
            </a:r>
            <a:r>
              <a:rPr lang="en-US" dirty="0" smtClean="0"/>
              <a:t>add elements </a:t>
            </a:r>
            <a:r>
              <a:rPr lang="en-US" dirty="0"/>
              <a:t>or tags, I first need to create a standard HTML structure which starts with </a:t>
            </a:r>
            <a:r>
              <a:rPr lang="en-US" dirty="0" smtClean="0"/>
              <a:t>the DOCTYPE </a:t>
            </a:r>
            <a:r>
              <a:rPr lang="en-US" dirty="0"/>
              <a:t>declaration. </a:t>
            </a:r>
            <a:r>
              <a:rPr lang="en-US" dirty="0" smtClean="0"/>
              <a:t>This </a:t>
            </a:r>
            <a:r>
              <a:rPr lang="en-US" dirty="0"/>
              <a:t>notifies the web </a:t>
            </a:r>
            <a:r>
              <a:rPr lang="en-US" dirty="0" smtClean="0"/>
              <a:t>browser that it is </a:t>
            </a:r>
            <a:r>
              <a:rPr lang="en-US" dirty="0"/>
              <a:t>a HTML documents.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7949" y="4551453"/>
            <a:ext cx="4273229" cy="2275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HTML </a:t>
            </a:r>
            <a:r>
              <a:rPr lang="en-US" b="1" dirty="0" smtClean="0"/>
              <a:t>root Element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Next, I create the HTML tag, which is also known </a:t>
            </a:r>
            <a:r>
              <a:rPr lang="en-US" dirty="0" smtClean="0"/>
              <a:t>as the </a:t>
            </a:r>
            <a:r>
              <a:rPr lang="en-US" b="1" dirty="0">
                <a:solidFill>
                  <a:srgbClr val="C00000"/>
                </a:solidFill>
              </a:rPr>
              <a:t>HTML root element.</a:t>
            </a:r>
            <a:r>
              <a:rPr lang="en-US" dirty="0"/>
              <a:t>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910" y="3645906"/>
            <a:ext cx="4934003" cy="3161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</a:t>
            </a:r>
            <a:r>
              <a:rPr lang="en-US" b="1" dirty="0" smtClean="0"/>
              <a:t>ead and body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Inside </a:t>
            </a:r>
            <a:r>
              <a:rPr lang="en-US" dirty="0"/>
              <a:t>the HTML tag, I add two main </a:t>
            </a:r>
            <a:r>
              <a:rPr lang="en-US" dirty="0" smtClean="0"/>
              <a:t>elements, the </a:t>
            </a:r>
            <a:r>
              <a:rPr lang="en-US" b="1" dirty="0">
                <a:solidFill>
                  <a:srgbClr val="C00000"/>
                </a:solidFill>
              </a:rPr>
              <a:t>head</a:t>
            </a:r>
            <a:r>
              <a:rPr lang="en-US" dirty="0"/>
              <a:t> and the </a:t>
            </a:r>
            <a:r>
              <a:rPr lang="en-US" b="1" dirty="0">
                <a:solidFill>
                  <a:srgbClr val="C00000"/>
                </a:solidFill>
              </a:rPr>
              <a:t>body</a:t>
            </a:r>
            <a:r>
              <a:rPr lang="en-US" dirty="0"/>
              <a:t> elements.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061" y="2527445"/>
            <a:ext cx="4129752" cy="4284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Head Element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It is </a:t>
            </a:r>
            <a:r>
              <a:rPr lang="en-US" dirty="0"/>
              <a:t>important to </a:t>
            </a:r>
            <a:r>
              <a:rPr lang="en-US" dirty="0" smtClean="0"/>
              <a:t>note that </a:t>
            </a:r>
            <a:r>
              <a:rPr lang="en-US" dirty="0"/>
              <a:t>nothing inside the head element is displayed on the webpage </a:t>
            </a:r>
            <a:r>
              <a:rPr lang="en-US" dirty="0" smtClean="0"/>
              <a:t>in the </a:t>
            </a:r>
            <a:r>
              <a:rPr lang="en-US" dirty="0"/>
              <a:t>web browser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In the head element</a:t>
            </a:r>
            <a:r>
              <a:rPr lang="en-US" dirty="0" smtClean="0"/>
              <a:t>, you </a:t>
            </a:r>
            <a:r>
              <a:rPr lang="en-US" dirty="0"/>
              <a:t>add information or </a:t>
            </a:r>
            <a:r>
              <a:rPr lang="en-US" b="1" dirty="0">
                <a:solidFill>
                  <a:srgbClr val="C00000"/>
                </a:solidFill>
              </a:rPr>
              <a:t>metadata</a:t>
            </a:r>
            <a:r>
              <a:rPr lang="en-US" dirty="0"/>
              <a:t> about </a:t>
            </a:r>
            <a:r>
              <a:rPr lang="en-US" dirty="0" smtClean="0"/>
              <a:t>the HTML </a:t>
            </a:r>
            <a:r>
              <a:rPr lang="en-US" dirty="0"/>
              <a:t>documents.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is not part of </a:t>
            </a:r>
            <a:r>
              <a:rPr lang="en-US" dirty="0" smtClean="0"/>
              <a:t>the content </a:t>
            </a:r>
            <a:r>
              <a:rPr lang="en-US" dirty="0"/>
              <a:t>of the webpage.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Title Tag in Head 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smtClean="0"/>
              <a:t>inside the </a:t>
            </a:r>
            <a:r>
              <a:rPr lang="en-US" dirty="0"/>
              <a:t>head tag, you always </a:t>
            </a:r>
            <a:r>
              <a:rPr lang="en-US" dirty="0" smtClean="0"/>
              <a:t>create the </a:t>
            </a:r>
            <a:r>
              <a:rPr lang="en-US" b="1" dirty="0">
                <a:solidFill>
                  <a:srgbClr val="C00000"/>
                </a:solidFill>
              </a:rPr>
              <a:t>title</a:t>
            </a:r>
            <a:r>
              <a:rPr lang="en-US" dirty="0"/>
              <a:t> elements.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This is the title that is displayed </a:t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/>
              <a:t>the web browser tab.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004764"/>
            <a:ext cx="6060497" cy="381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Linking and Meta </a:t>
            </a:r>
            <a:r>
              <a:rPr lang="en-US" b="1" dirty="0"/>
              <a:t>T</a:t>
            </a:r>
            <a:r>
              <a:rPr lang="en-US" b="1" dirty="0" smtClean="0"/>
              <a:t>ags in Head 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I </a:t>
            </a:r>
            <a:r>
              <a:rPr lang="en-US" dirty="0"/>
              <a:t>can also </a:t>
            </a:r>
            <a:r>
              <a:rPr lang="en-US" b="1" dirty="0">
                <a:solidFill>
                  <a:srgbClr val="C00000"/>
                </a:solidFill>
              </a:rPr>
              <a:t>link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CSS files </a:t>
            </a:r>
            <a:r>
              <a:rPr lang="en-US" dirty="0"/>
              <a:t>and define</a:t>
            </a:r>
            <a:r>
              <a:rPr lang="en-US" b="1" i="1" dirty="0">
                <a:solidFill>
                  <a:srgbClr val="C00000"/>
                </a:solidFill>
              </a:rPr>
              <a:t> Meta tags </a:t>
            </a:r>
            <a:r>
              <a:rPr lang="en-US" dirty="0" smtClean="0"/>
              <a:t>in the </a:t>
            </a:r>
            <a:r>
              <a:rPr lang="en-US" dirty="0"/>
              <a:t>head section.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b="1" i="1" dirty="0" smtClean="0">
                <a:solidFill>
                  <a:srgbClr val="C00000"/>
                </a:solidFill>
              </a:rPr>
              <a:t>Meta </a:t>
            </a:r>
            <a:r>
              <a:rPr lang="en-US" b="1" i="1" dirty="0">
                <a:solidFill>
                  <a:srgbClr val="C00000"/>
                </a:solidFill>
              </a:rPr>
              <a:t>tags </a:t>
            </a:r>
            <a:r>
              <a:rPr lang="en-US" dirty="0"/>
              <a:t>can, for instance, specify the </a:t>
            </a:r>
            <a:r>
              <a:rPr lang="en-US" dirty="0" smtClean="0"/>
              <a:t>description of </a:t>
            </a:r>
            <a:r>
              <a:rPr lang="en-US" dirty="0"/>
              <a:t>the web page, keywords for search engines and the order of the web page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Body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Next </a:t>
            </a:r>
            <a:r>
              <a:rPr lang="en-US" dirty="0"/>
              <a:t>up, I add the </a:t>
            </a:r>
            <a:r>
              <a:rPr lang="en-US" b="1" dirty="0">
                <a:solidFill>
                  <a:srgbClr val="C00000"/>
                </a:solidFill>
              </a:rPr>
              <a:t>content of the webpage </a:t>
            </a:r>
            <a:r>
              <a:rPr lang="en-US" dirty="0"/>
              <a:t>inside the body tag.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body can </a:t>
            </a:r>
            <a:r>
              <a:rPr lang="en-US" dirty="0" smtClean="0"/>
              <a:t>contain elements </a:t>
            </a:r>
            <a:r>
              <a:rPr lang="en-US" dirty="0"/>
              <a:t>such as </a:t>
            </a:r>
            <a:r>
              <a:rPr lang="en-US" b="1" dirty="0">
                <a:solidFill>
                  <a:srgbClr val="C00000"/>
                </a:solidFill>
              </a:rPr>
              <a:t>headings, paragraphs, images, and videos.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Headings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Let me start by </a:t>
            </a:r>
            <a:r>
              <a:rPr lang="en-US" dirty="0" smtClean="0"/>
              <a:t>adding a </a:t>
            </a:r>
            <a:r>
              <a:rPr lang="en-US" dirty="0"/>
              <a:t>main heading on the webpage by using the H1 tag.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Inside </a:t>
            </a:r>
            <a:r>
              <a:rPr lang="en-US" dirty="0"/>
              <a:t>the H1 tag, I typed the </a:t>
            </a:r>
            <a:br>
              <a:rPr lang="en-US" dirty="0" smtClean="0"/>
            </a:br>
            <a:r>
              <a:rPr lang="en-US" dirty="0" smtClean="0"/>
              <a:t>heading</a:t>
            </a:r>
            <a:r>
              <a:rPr lang="en-US" dirty="0"/>
              <a:t>, </a:t>
            </a:r>
            <a:r>
              <a:rPr lang="en-US" dirty="0" smtClean="0"/>
              <a:t>“Our Menu”.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085" y="3154167"/>
            <a:ext cx="5631545" cy="36730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Headings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Now </a:t>
            </a:r>
            <a:r>
              <a:rPr lang="en-US" dirty="0"/>
              <a:t>I need </a:t>
            </a:r>
            <a:r>
              <a:rPr lang="en-US" dirty="0" smtClean="0"/>
              <a:t>to start </a:t>
            </a:r>
            <a:r>
              <a:rPr lang="en-US" dirty="0"/>
              <a:t>creating my menu.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want to add two items. </a:t>
            </a:r>
            <a:r>
              <a:rPr lang="en-US" dirty="0" smtClean="0"/>
              <a:t>To </a:t>
            </a:r>
            <a:r>
              <a:rPr lang="en-US" dirty="0"/>
              <a:t>do that, I </a:t>
            </a:r>
            <a:r>
              <a:rPr lang="en-US" dirty="0" smtClean="0"/>
              <a:t>add two sub headings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this, I use the H2 tag. </a:t>
            </a:r>
            <a:r>
              <a:rPr lang="en-US" dirty="0" smtClean="0"/>
              <a:t>The </a:t>
            </a:r>
            <a:r>
              <a:rPr lang="en-US" dirty="0"/>
              <a:t>menu items </a:t>
            </a:r>
            <a:br>
              <a:rPr lang="en-US" dirty="0" smtClean="0"/>
            </a:br>
            <a:r>
              <a:rPr lang="en-US" dirty="0" smtClean="0"/>
              <a:t>in the sub headings </a:t>
            </a:r>
            <a:r>
              <a:rPr lang="en-US" dirty="0"/>
              <a:t>are </a:t>
            </a:r>
            <a:r>
              <a:rPr lang="en-US" dirty="0" smtClean="0"/>
              <a:t>“falafel” </a:t>
            </a:r>
            <a:r>
              <a:rPr lang="en-US" dirty="0"/>
              <a:t>and </a:t>
            </a:r>
            <a:br>
              <a:rPr lang="en-US" dirty="0" smtClean="0"/>
            </a:br>
            <a:r>
              <a:rPr lang="en-US" dirty="0" smtClean="0"/>
              <a:t>“pasta salad”.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8764" y="3317898"/>
            <a:ext cx="4712414" cy="34990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Save and View in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In order to make </a:t>
            </a:r>
            <a:r>
              <a:rPr lang="en-US" dirty="0" smtClean="0"/>
              <a:t>sure everything </a:t>
            </a:r>
            <a:r>
              <a:rPr lang="en-US" dirty="0"/>
              <a:t>is correct, I open my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index.html</a:t>
            </a:r>
            <a:r>
              <a:rPr lang="en-US" dirty="0" smtClean="0"/>
              <a:t>” </a:t>
            </a:r>
            <a:r>
              <a:rPr lang="en-US" dirty="0"/>
              <a:t>file in the </a:t>
            </a:r>
            <a:r>
              <a:rPr lang="en-US" b="1" dirty="0" smtClean="0">
                <a:solidFill>
                  <a:srgbClr val="C00000"/>
                </a:solidFill>
              </a:rPr>
              <a:t>browser</a:t>
            </a:r>
            <a:r>
              <a:rPr lang="en-US" dirty="0" smtClean="0"/>
              <a:t> to </a:t>
            </a:r>
            <a:r>
              <a:rPr lang="en-US" dirty="0"/>
              <a:t>check my webpage.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first I need to </a:t>
            </a:r>
            <a:r>
              <a:rPr lang="en-US" dirty="0" smtClean="0"/>
              <a:t>save the </a:t>
            </a:r>
            <a:r>
              <a:rPr lang="en-US" dirty="0"/>
              <a:t>file by pressing the keys </a:t>
            </a:r>
            <a:r>
              <a:rPr lang="en-US" b="1" dirty="0">
                <a:solidFill>
                  <a:srgbClr val="C00000"/>
                </a:solidFill>
              </a:rPr>
              <a:t>Control +</a:t>
            </a:r>
            <a:r>
              <a:rPr lang="en-US" b="1" dirty="0" smtClean="0">
                <a:solidFill>
                  <a:srgbClr val="C00000"/>
                </a:solidFill>
              </a:rPr>
              <a:t> S</a:t>
            </a:r>
            <a:r>
              <a:rPr lang="en-US" dirty="0" smtClean="0"/>
              <a:t> or </a:t>
            </a:r>
            <a:r>
              <a:rPr lang="en-US" dirty="0"/>
              <a:t>if you're on a Mac, Command and 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Now</a:t>
            </a:r>
            <a:r>
              <a:rPr lang="en-US" dirty="0"/>
              <a:t>, I right-click on </a:t>
            </a:r>
            <a:r>
              <a:rPr lang="en-US" dirty="0" smtClean="0"/>
              <a:t>my index.html </a:t>
            </a:r>
            <a:r>
              <a:rPr lang="en-US" dirty="0"/>
              <a:t>file in the explorer panel and </a:t>
            </a:r>
            <a:r>
              <a:rPr lang="en-US" dirty="0" smtClean="0"/>
              <a:t>select “</a:t>
            </a:r>
            <a:r>
              <a:rPr lang="en-US" b="1" dirty="0" smtClean="0">
                <a:solidFill>
                  <a:srgbClr val="C00000"/>
                </a:solidFill>
              </a:rPr>
              <a:t>Reveal </a:t>
            </a:r>
            <a:r>
              <a:rPr lang="en-US" b="1" dirty="0">
                <a:solidFill>
                  <a:srgbClr val="C00000"/>
                </a:solidFill>
              </a:rPr>
              <a:t>in File </a:t>
            </a:r>
            <a:r>
              <a:rPr lang="en-US" b="1" dirty="0" smtClean="0">
                <a:solidFill>
                  <a:srgbClr val="C00000"/>
                </a:solidFill>
              </a:rPr>
              <a:t>Explorer</a:t>
            </a:r>
            <a:r>
              <a:rPr lang="en-US" dirty="0" smtClean="0"/>
              <a:t>”.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Save and View in Browser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490" y="1952090"/>
            <a:ext cx="6012245" cy="45337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Save and View in Browser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0238" y="3729598"/>
            <a:ext cx="6510389" cy="308730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Now </a:t>
            </a:r>
            <a:r>
              <a:rPr lang="en-US" dirty="0"/>
              <a:t>the file </a:t>
            </a:r>
            <a:r>
              <a:rPr lang="en-US" dirty="0" smtClean="0"/>
              <a:t>browser opens </a:t>
            </a:r>
            <a:r>
              <a:rPr lang="en-US" dirty="0"/>
              <a:t>and lists the file. I double-click on index.html and it opens in the web browser. </a:t>
            </a:r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Save and View in Browser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312" y="3518382"/>
            <a:ext cx="5267525" cy="327797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title that </a:t>
            </a:r>
            <a:r>
              <a:rPr lang="en-US" dirty="0" smtClean="0"/>
              <a:t>displays in </a:t>
            </a:r>
            <a:r>
              <a:rPr lang="en-US" dirty="0"/>
              <a:t>the browser tab matches the title that </a:t>
            </a:r>
            <a:r>
              <a:rPr lang="en-US" dirty="0" smtClean="0"/>
              <a:t>I added </a:t>
            </a:r>
            <a:r>
              <a:rPr lang="en-US" dirty="0"/>
              <a:t>to the head section and the content is displayed in the browser window </a:t>
            </a:r>
            <a:r>
              <a:rPr lang="en-US" dirty="0" smtClean="0"/>
              <a:t>but it </a:t>
            </a:r>
            <a:r>
              <a:rPr lang="en-US" dirty="0"/>
              <a:t>is still a bit empty.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Edit, Save </a:t>
            </a:r>
            <a:r>
              <a:rPr lang="en-US" b="1" dirty="0"/>
              <a:t>and View in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 go back to Visual Studio Code and add a </a:t>
            </a:r>
            <a:r>
              <a:rPr lang="en-US" dirty="0" smtClean="0"/>
              <a:t>short description </a:t>
            </a:r>
            <a:r>
              <a:rPr lang="en-US" dirty="0"/>
              <a:t>for each dish.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do this by adding a </a:t>
            </a:r>
            <a:r>
              <a:rPr lang="en-US" dirty="0" smtClean="0"/>
              <a:t>paragraph &lt;p&gt; </a:t>
            </a:r>
            <a:r>
              <a:rPr lang="en-US" dirty="0"/>
              <a:t>tag </a:t>
            </a:r>
            <a:r>
              <a:rPr lang="en-US" dirty="0" smtClean="0"/>
              <a:t>below each </a:t>
            </a:r>
            <a:r>
              <a:rPr lang="en-US" dirty="0"/>
              <a:t>subheading H2.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imagine a nice falafel. </a:t>
            </a:r>
            <a:r>
              <a:rPr lang="en-US" dirty="0" smtClean="0"/>
              <a:t>I </a:t>
            </a:r>
            <a:r>
              <a:rPr lang="en-US" dirty="0"/>
              <a:t>type C</a:t>
            </a:r>
            <a:r>
              <a:rPr lang="en-US" dirty="0" smtClean="0"/>
              <a:t>hickpea</a:t>
            </a:r>
            <a:r>
              <a:rPr lang="en-US" dirty="0" smtClean="0"/>
              <a:t>, herbs</a:t>
            </a:r>
            <a:r>
              <a:rPr lang="en-US" dirty="0"/>
              <a:t>, and spices.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What </a:t>
            </a:r>
            <a:r>
              <a:rPr lang="en-US" dirty="0"/>
              <a:t>goes into </a:t>
            </a:r>
            <a:r>
              <a:rPr lang="en-US" dirty="0" smtClean="0"/>
              <a:t>the “pasta salad” </a:t>
            </a:r>
            <a:r>
              <a:rPr lang="en-US" dirty="0"/>
              <a:t>again? Lettuce, vegetables</a:t>
            </a:r>
            <a:r>
              <a:rPr lang="en-US" dirty="0" smtClean="0"/>
              <a:t>, and </a:t>
            </a:r>
            <a:r>
              <a:rPr lang="en-US" dirty="0"/>
              <a:t>mozzarella.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Edit, Save and View in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 save the file </a:t>
            </a:r>
            <a:r>
              <a:rPr lang="en-US" dirty="0" smtClean="0"/>
              <a:t>again to </a:t>
            </a:r>
            <a:r>
              <a:rPr lang="en-US" dirty="0"/>
              <a:t>update the changes.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Again</a:t>
            </a:r>
            <a:r>
              <a:rPr lang="en-US" dirty="0"/>
              <a:t>, I open </a:t>
            </a:r>
            <a:r>
              <a:rPr lang="en-US" dirty="0" smtClean="0"/>
              <a:t>it in </a:t>
            </a:r>
            <a:r>
              <a:rPr lang="en-US" dirty="0"/>
              <a:t>my web browser. There you go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Now the ingredients are also included in the menu.</a:t>
            </a:r>
            <a:r>
              <a:rPr lang="en-US" dirty="0" smtClean="0"/>
              <a:t> </a:t>
            </a:r>
            <a:endParaRPr lang="en-US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Edit, Save and View in Browser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461" y="1948628"/>
            <a:ext cx="7343078" cy="47541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Edit, Save and View in Browser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3167" y="1906937"/>
            <a:ext cx="6765666" cy="49305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HTML Elements Reference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https://developer.mozilla.org/en-US/docs/Web/HTML/Element</a:t>
            </a:r>
            <a:endParaRPr lang="en-US" dirty="0"/>
          </a:p>
          <a:p>
            <a:r>
              <a:rPr lang="en-US" b="1" dirty="0"/>
              <a:t>The Form Element (Mozilla)</a:t>
            </a:r>
            <a:endParaRPr lang="en-US" dirty="0"/>
          </a:p>
          <a:p>
            <a:r>
              <a:rPr lang="en-US" u="sng" dirty="0">
                <a:hlinkClick r:id="rId2"/>
              </a:rPr>
              <a:t>https://developer.mozilla.org/en-US/docs/Web/HTML/Element/form</a:t>
            </a:r>
            <a:endParaRPr lang="en-US" dirty="0"/>
          </a:p>
          <a:p>
            <a:r>
              <a:rPr lang="en-US" b="1" dirty="0"/>
              <a:t>What is the Document Object Model? (W3C)</a:t>
            </a:r>
            <a:endParaRPr lang="en-US" dirty="0"/>
          </a:p>
          <a:p>
            <a:r>
              <a:rPr lang="en-US" u="sng" dirty="0">
                <a:hlinkClick r:id="rId3"/>
              </a:rPr>
              <a:t>https://www.w3.org/TR/WD-DOM/introduction.html</a:t>
            </a:r>
            <a:endParaRPr lang="en-US" dirty="0"/>
          </a:p>
          <a:p>
            <a:r>
              <a:rPr lang="en-US" b="1" dirty="0"/>
              <a:t>ARIA in HTML (W3C via </a:t>
            </a:r>
            <a:r>
              <a:rPr lang="en-US" b="1" dirty="0" err="1"/>
              <a:t>Github</a:t>
            </a:r>
            <a:r>
              <a:rPr lang="en-US" b="1" dirty="0"/>
              <a:t>)</a:t>
            </a:r>
            <a:endParaRPr lang="en-US" dirty="0"/>
          </a:p>
          <a:p>
            <a:r>
              <a:rPr lang="en-US" u="sng" dirty="0">
                <a:hlinkClick r:id="rId4"/>
              </a:rPr>
              <a:t>https://w3c.github.io/html-aria/</a:t>
            </a:r>
            <a:endParaRPr lang="en-US" dirty="0"/>
          </a:p>
          <a:p>
            <a:r>
              <a:rPr lang="en-US" b="1" dirty="0"/>
              <a:t>ARIA Authoring Practices (W3C)</a:t>
            </a:r>
            <a:endParaRPr lang="en-US" dirty="0"/>
          </a:p>
          <a:p>
            <a:r>
              <a:rPr lang="en-US" u="sng" dirty="0">
                <a:hlinkClick r:id="rId5"/>
              </a:rPr>
              <a:t>https://www.w3.org/TR/wai-aria-practices-1.2/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4475</Words>
  <Application>WPS Presentation</Application>
  <PresentationFormat>Widescreen</PresentationFormat>
  <Paragraphs>122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Book Antiqua</vt:lpstr>
      <vt:lpstr>Office Theme</vt:lpstr>
      <vt:lpstr>HTML Documents</vt:lpstr>
      <vt:lpstr>HTML Documents</vt:lpstr>
      <vt:lpstr>HTML Documents</vt:lpstr>
      <vt:lpstr>HTML Documents</vt:lpstr>
      <vt:lpstr>Main File (index.html)</vt:lpstr>
      <vt:lpstr>DOCTYPE Tag</vt:lpstr>
      <vt:lpstr>HTML root Element Tag</vt:lpstr>
      <vt:lpstr>head and body Tags</vt:lpstr>
      <vt:lpstr>Head Element Tag</vt:lpstr>
      <vt:lpstr>Title Tag in Head Section</vt:lpstr>
      <vt:lpstr>Linking and Meta Tags in Head Section</vt:lpstr>
      <vt:lpstr>Body Tags</vt:lpstr>
      <vt:lpstr>Headings</vt:lpstr>
      <vt:lpstr>Headings</vt:lpstr>
      <vt:lpstr>Save and View in Browser</vt:lpstr>
      <vt:lpstr>Save and View in Browser</vt:lpstr>
      <vt:lpstr>Save and View in Browser</vt:lpstr>
      <vt:lpstr>Save and View in Browser</vt:lpstr>
      <vt:lpstr>Edit, Save and View in Browser</vt:lpstr>
      <vt:lpstr>Edit, Save and View in Browser</vt:lpstr>
      <vt:lpstr>Edit, Save and View in Browser</vt:lpstr>
      <vt:lpstr>Edit, Save and View in Browser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HTML</dc:title>
  <dc:creator>Muhammad Habib</dc:creator>
  <cp:lastModifiedBy>Shahzeb Iqbal</cp:lastModifiedBy>
  <cp:revision>99</cp:revision>
  <dcterms:created xsi:type="dcterms:W3CDTF">2023-01-31T14:12:00Z</dcterms:created>
  <dcterms:modified xsi:type="dcterms:W3CDTF">2026-10-04T07:04:16Z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46F1007A68CE41B486C8F3DE62C11EDC_12</vt:lpwstr>
  </property>
</Properties>
</file>